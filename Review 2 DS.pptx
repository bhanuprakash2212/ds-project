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1"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autoAdjust="0"/>
    <p:restoredTop sz="94660"/>
  </p:normalViewPr>
  <p:slideViewPr>
    <p:cSldViewPr snapToGrid="0" snapToObjects="1">
      <p:cViewPr>
        <p:scale>
          <a:sx n="77" d="100"/>
          <a:sy n="77" d="100"/>
        </p:scale>
        <p:origin x="192"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D1F6A-8309-7B85-CD2A-AE84480858B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18BC4BD-7923-5B36-D5BC-BDD0E0697A76}"/>
              </a:ext>
            </a:extLst>
          </p:cNvPr>
          <p:cNvSpPr/>
          <p:nvPr/>
        </p:nvSpPr>
        <p:spPr>
          <a:xfrm>
            <a:off x="0" y="0"/>
            <a:ext cx="12191695" cy="6858000"/>
          </a:xfrm>
          <a:prstGeom prst="rect">
            <a:avLst/>
          </a:prstGeom>
          <a:solidFill>
            <a:srgbClr val="09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DF4C0CC-EFE5-05C7-2BE9-830802914636}"/>
              </a:ext>
            </a:extLst>
          </p:cNvPr>
          <p:cNvSpPr/>
          <p:nvPr/>
        </p:nvSpPr>
        <p:spPr>
          <a:xfrm>
            <a:off x="182880" y="182880"/>
            <a:ext cx="11521440" cy="6400800"/>
          </a:xfrm>
          <a:prstGeom prst="rect">
            <a:avLst/>
          </a:prstGeom>
          <a:solidFill>
            <a:srgbClr val="0F4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C3B71B02-96CB-E385-EF55-4FA90E6A5236}"/>
              </a:ext>
            </a:extLst>
          </p:cNvPr>
          <p:cNvSpPr/>
          <p:nvPr/>
        </p:nvSpPr>
        <p:spPr>
          <a:xfrm>
            <a:off x="10561320" y="0"/>
            <a:ext cx="685800" cy="914400"/>
          </a:xfrm>
          <a:prstGeom prst="rect">
            <a:avLst/>
          </a:prstGeom>
          <a:solidFill>
            <a:srgbClr val="CD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DF7BB8A-25CB-B0BD-E4D3-4D517EA1CDB5}"/>
              </a:ext>
            </a:extLst>
          </p:cNvPr>
          <p:cNvSpPr txBox="1"/>
          <p:nvPr/>
        </p:nvSpPr>
        <p:spPr>
          <a:xfrm>
            <a:off x="777240" y="658368"/>
            <a:ext cx="10241280" cy="731520"/>
          </a:xfrm>
          <a:prstGeom prst="rect">
            <a:avLst/>
          </a:prstGeom>
          <a:noFill/>
        </p:spPr>
        <p:txBody>
          <a:bodyPr wrap="square" anchor="t">
            <a:spAutoFit/>
          </a:bodyPr>
          <a:lstStyle/>
          <a:p>
            <a:pPr algn="l"/>
            <a:r>
              <a:rPr sz="4200" b="1">
                <a:solidFill>
                  <a:srgbClr val="F5F7F7"/>
                </a:solidFill>
                <a:latin typeface="Aptos"/>
              </a:rPr>
              <a:t>EduInsight</a:t>
            </a:r>
          </a:p>
        </p:txBody>
      </p:sp>
      <p:sp>
        <p:nvSpPr>
          <p:cNvPr id="6" name="TextBox 5">
            <a:extLst>
              <a:ext uri="{FF2B5EF4-FFF2-40B4-BE49-F238E27FC236}">
                <a16:creationId xmlns:a16="http://schemas.microsoft.com/office/drawing/2014/main" id="{AC3331A8-791C-2D53-C614-B59C96E19087}"/>
              </a:ext>
            </a:extLst>
          </p:cNvPr>
          <p:cNvSpPr txBox="1"/>
          <p:nvPr/>
        </p:nvSpPr>
        <p:spPr>
          <a:xfrm>
            <a:off x="804672" y="1417320"/>
            <a:ext cx="10058400" cy="1234440"/>
          </a:xfrm>
          <a:prstGeom prst="rect">
            <a:avLst/>
          </a:prstGeom>
          <a:noFill/>
        </p:spPr>
        <p:txBody>
          <a:bodyPr wrap="square" anchor="t">
            <a:spAutoFit/>
          </a:bodyPr>
          <a:lstStyle/>
          <a:p>
            <a:pPr algn="l"/>
            <a:r>
              <a:rPr sz="3000" b="0" dirty="0">
                <a:solidFill>
                  <a:srgbClr val="F5F7F7"/>
                </a:solidFill>
                <a:latin typeface="Aptos"/>
              </a:rPr>
              <a:t>Student Performance and Dropout Analytics System</a:t>
            </a:r>
          </a:p>
        </p:txBody>
      </p:sp>
      <p:sp>
        <p:nvSpPr>
          <p:cNvPr id="7" name="TextBox 6">
            <a:extLst>
              <a:ext uri="{FF2B5EF4-FFF2-40B4-BE49-F238E27FC236}">
                <a16:creationId xmlns:a16="http://schemas.microsoft.com/office/drawing/2014/main" id="{AC369D3B-0739-1A98-0EC1-42589B590589}"/>
              </a:ext>
            </a:extLst>
          </p:cNvPr>
          <p:cNvSpPr txBox="1"/>
          <p:nvPr/>
        </p:nvSpPr>
        <p:spPr>
          <a:xfrm>
            <a:off x="841248" y="2743200"/>
            <a:ext cx="8961120" cy="411480"/>
          </a:xfrm>
          <a:prstGeom prst="rect">
            <a:avLst/>
          </a:prstGeom>
          <a:noFill/>
        </p:spPr>
        <p:txBody>
          <a:bodyPr wrap="square" anchor="t">
            <a:spAutoFit/>
          </a:bodyPr>
          <a:lstStyle/>
          <a:p>
            <a:pPr algn="l"/>
            <a:r>
              <a:rPr sz="1800" b="0">
                <a:solidFill>
                  <a:srgbClr val="89DAE0"/>
                </a:solidFill>
                <a:latin typeface="Aptos"/>
              </a:rPr>
              <a:t>A simple machine-learning based academic analytics project</a:t>
            </a:r>
          </a:p>
        </p:txBody>
      </p:sp>
      <p:sp>
        <p:nvSpPr>
          <p:cNvPr id="8" name="TextBox 7">
            <a:extLst>
              <a:ext uri="{FF2B5EF4-FFF2-40B4-BE49-F238E27FC236}">
                <a16:creationId xmlns:a16="http://schemas.microsoft.com/office/drawing/2014/main" id="{E701BFFF-EF98-7C36-7171-E5B00F318191}"/>
              </a:ext>
            </a:extLst>
          </p:cNvPr>
          <p:cNvSpPr txBox="1"/>
          <p:nvPr/>
        </p:nvSpPr>
        <p:spPr>
          <a:xfrm>
            <a:off x="920219" y="3314700"/>
            <a:ext cx="9601200" cy="784830"/>
          </a:xfrm>
          <a:prstGeom prst="rect">
            <a:avLst/>
          </a:prstGeom>
          <a:noFill/>
        </p:spPr>
        <p:txBody>
          <a:bodyPr wrap="square" anchor="t">
            <a:spAutoFit/>
          </a:bodyPr>
          <a:lstStyle/>
          <a:p>
            <a:pPr algn="l"/>
            <a:r>
              <a:rPr sz="1500" b="0" dirty="0">
                <a:solidFill>
                  <a:srgbClr val="B8DADB"/>
                </a:solidFill>
                <a:latin typeface="Aptos"/>
              </a:rPr>
              <a:t> </a:t>
            </a:r>
            <a:r>
              <a:rPr lang="en-US" sz="1500" dirty="0" err="1">
                <a:solidFill>
                  <a:srgbClr val="B8DADB"/>
                </a:solidFill>
                <a:latin typeface="Aptos"/>
              </a:rPr>
              <a:t>Dikshith.K</a:t>
            </a:r>
            <a:r>
              <a:rPr lang="en-US" sz="1500" dirty="0">
                <a:solidFill>
                  <a:srgbClr val="B8DADB"/>
                </a:solidFill>
                <a:latin typeface="Aptos"/>
              </a:rPr>
              <a:t> -2420030607</a:t>
            </a:r>
            <a:endParaRPr lang="en-US" sz="1500" b="0" dirty="0">
              <a:solidFill>
                <a:srgbClr val="B8DADB"/>
              </a:solidFill>
              <a:latin typeface="Aptos"/>
            </a:endParaRPr>
          </a:p>
          <a:p>
            <a:pPr algn="l"/>
            <a:r>
              <a:rPr lang="en-US" sz="1500" dirty="0">
                <a:solidFill>
                  <a:srgbClr val="B8DADB"/>
                </a:solidFill>
                <a:latin typeface="Aptos"/>
              </a:rPr>
              <a:t>PrabhuLing-2420030396</a:t>
            </a:r>
          </a:p>
          <a:p>
            <a:pPr algn="l"/>
            <a:r>
              <a:rPr lang="en-US" sz="1500" dirty="0">
                <a:solidFill>
                  <a:srgbClr val="B8DADB"/>
                </a:solidFill>
                <a:latin typeface="Aptos"/>
              </a:rPr>
              <a:t>BhanuPrakash-2420030365                                    </a:t>
            </a:r>
            <a:r>
              <a:rPr sz="1500" b="0" dirty="0">
                <a:solidFill>
                  <a:srgbClr val="B8DADB"/>
                </a:solidFill>
                <a:latin typeface="Aptos"/>
              </a:rPr>
              <a:t>]</a:t>
            </a:r>
          </a:p>
        </p:txBody>
      </p:sp>
      <p:sp>
        <p:nvSpPr>
          <p:cNvPr id="9" name="TextBox 8">
            <a:extLst>
              <a:ext uri="{FF2B5EF4-FFF2-40B4-BE49-F238E27FC236}">
                <a16:creationId xmlns:a16="http://schemas.microsoft.com/office/drawing/2014/main" id="{2A1804C6-FFE5-0A82-7C1B-4B1E3172E57C}"/>
              </a:ext>
            </a:extLst>
          </p:cNvPr>
          <p:cNvSpPr txBox="1"/>
          <p:nvPr/>
        </p:nvSpPr>
        <p:spPr>
          <a:xfrm>
            <a:off x="841248" y="4800600"/>
            <a:ext cx="7772400" cy="320040"/>
          </a:xfrm>
          <a:prstGeom prst="rect">
            <a:avLst/>
          </a:prstGeom>
          <a:noFill/>
        </p:spPr>
        <p:txBody>
          <a:bodyPr wrap="square" anchor="t">
            <a:spAutoFit/>
          </a:bodyPr>
          <a:lstStyle/>
          <a:p>
            <a:pPr algn="l"/>
            <a:r>
              <a:rPr sz="1500" b="0" dirty="0">
                <a:solidFill>
                  <a:srgbClr val="B8DADB"/>
                </a:solidFill>
                <a:latin typeface="Aptos"/>
              </a:rPr>
              <a:t>GUIDE:  </a:t>
            </a:r>
            <a:r>
              <a:rPr lang="en-US" sz="1500" b="0" dirty="0">
                <a:solidFill>
                  <a:srgbClr val="B8DADB"/>
                </a:solidFill>
                <a:latin typeface="Aptos"/>
              </a:rPr>
              <a:t>[</a:t>
            </a:r>
            <a:r>
              <a:rPr lang="en-US" sz="1500" dirty="0">
                <a:solidFill>
                  <a:srgbClr val="B8DADB"/>
                </a:solidFill>
                <a:latin typeface="Aptos"/>
              </a:rPr>
              <a:t>Faculty-Dr.</a:t>
            </a:r>
            <a:r>
              <a:rPr lang="en-US" sz="1500" b="0" dirty="0">
                <a:solidFill>
                  <a:srgbClr val="B8DADB"/>
                </a:solidFill>
                <a:latin typeface="Aptos"/>
              </a:rPr>
              <a:t>]</a:t>
            </a:r>
            <a:endParaRPr sz="1500" b="0" dirty="0">
              <a:solidFill>
                <a:srgbClr val="B8DADB"/>
              </a:solidFill>
              <a:latin typeface="Aptos"/>
            </a:endParaRPr>
          </a:p>
        </p:txBody>
      </p:sp>
      <p:sp>
        <p:nvSpPr>
          <p:cNvPr id="10" name="TextBox 9">
            <a:extLst>
              <a:ext uri="{FF2B5EF4-FFF2-40B4-BE49-F238E27FC236}">
                <a16:creationId xmlns:a16="http://schemas.microsoft.com/office/drawing/2014/main" id="{BFC279B9-6A68-957C-FD39-81E24A5A77A7}"/>
              </a:ext>
            </a:extLst>
          </p:cNvPr>
          <p:cNvSpPr txBox="1"/>
          <p:nvPr/>
        </p:nvSpPr>
        <p:spPr>
          <a:xfrm>
            <a:off x="841248" y="5715000"/>
            <a:ext cx="7772400" cy="320040"/>
          </a:xfrm>
          <a:prstGeom prst="rect">
            <a:avLst/>
          </a:prstGeom>
          <a:noFill/>
        </p:spPr>
        <p:txBody>
          <a:bodyPr wrap="square" anchor="t">
            <a:spAutoFit/>
          </a:bodyPr>
          <a:lstStyle/>
          <a:p>
            <a:pPr algn="l"/>
            <a:r>
              <a:rPr sz="1400" b="0">
                <a:solidFill>
                  <a:srgbClr val="89DAE0"/>
                </a:solidFill>
                <a:latin typeface="Aptos"/>
              </a:rPr>
              <a:t>Project Proposal / Initial Presentation</a:t>
            </a:r>
          </a:p>
        </p:txBody>
      </p:sp>
      <p:sp>
        <p:nvSpPr>
          <p:cNvPr id="11" name="TextBox 10">
            <a:extLst>
              <a:ext uri="{FF2B5EF4-FFF2-40B4-BE49-F238E27FC236}">
                <a16:creationId xmlns:a16="http://schemas.microsoft.com/office/drawing/2014/main" id="{6F35D96D-904D-EA43-1BE9-7061B39AC47D}"/>
              </a:ext>
            </a:extLst>
          </p:cNvPr>
          <p:cNvSpPr txBox="1"/>
          <p:nvPr/>
        </p:nvSpPr>
        <p:spPr>
          <a:xfrm>
            <a:off x="10927080" y="6419088"/>
            <a:ext cx="411480" cy="228600"/>
          </a:xfrm>
          <a:prstGeom prst="rect">
            <a:avLst/>
          </a:prstGeom>
          <a:noFill/>
        </p:spPr>
        <p:txBody>
          <a:bodyPr wrap="square" anchor="t">
            <a:spAutoFit/>
          </a:bodyPr>
          <a:lstStyle/>
          <a:p>
            <a:pPr algn="r"/>
            <a:r>
              <a:rPr sz="1000" b="1">
                <a:solidFill>
                  <a:srgbClr val="89DAE0"/>
                </a:solidFill>
                <a:latin typeface="Aptos"/>
              </a:rPr>
              <a:t>01</a:t>
            </a:r>
          </a:p>
        </p:txBody>
      </p:sp>
    </p:spTree>
    <p:extLst>
      <p:ext uri="{BB962C8B-B14F-4D97-AF65-F5344CB8AC3E}">
        <p14:creationId xmlns:p14="http://schemas.microsoft.com/office/powerpoint/2010/main" val="2103840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 y="182880"/>
            <a:ext cx="11521440" cy="6400800"/>
          </a:xfrm>
          <a:prstGeom prst="rect">
            <a:avLst/>
          </a:prstGeom>
          <a:solidFill>
            <a:srgbClr val="0F4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61320" y="0"/>
            <a:ext cx="685800" cy="914400"/>
          </a:xfrm>
          <a:prstGeom prst="rect">
            <a:avLst/>
          </a:prstGeom>
          <a:solidFill>
            <a:srgbClr val="CD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411480"/>
            <a:ext cx="9418320" cy="594360"/>
          </a:xfrm>
          <a:prstGeom prst="rect">
            <a:avLst/>
          </a:prstGeom>
          <a:noFill/>
        </p:spPr>
        <p:txBody>
          <a:bodyPr wrap="square" anchor="t">
            <a:spAutoFit/>
          </a:bodyPr>
          <a:lstStyle/>
          <a:p>
            <a:pPr algn="l"/>
            <a:r>
              <a:rPr sz="2800" b="1">
                <a:solidFill>
                  <a:srgbClr val="F5F7F7"/>
                </a:solidFill>
                <a:latin typeface="Aptos"/>
              </a:rPr>
              <a:t>Problem Statement</a:t>
            </a:r>
          </a:p>
        </p:txBody>
      </p:sp>
      <p:sp>
        <p:nvSpPr>
          <p:cNvPr id="6" name="TextBox 5"/>
          <p:cNvSpPr txBox="1"/>
          <p:nvPr/>
        </p:nvSpPr>
        <p:spPr>
          <a:xfrm>
            <a:off x="868680" y="1417320"/>
            <a:ext cx="10149840" cy="1417320"/>
          </a:xfrm>
          <a:prstGeom prst="rect">
            <a:avLst/>
          </a:prstGeom>
          <a:noFill/>
        </p:spPr>
        <p:txBody>
          <a:bodyPr wrap="square" anchor="t">
            <a:spAutoFit/>
          </a:bodyPr>
          <a:lstStyle/>
          <a:p>
            <a:pPr algn="l"/>
            <a:r>
              <a:rPr sz="2100" b="0">
                <a:solidFill>
                  <a:srgbClr val="B8DADB"/>
                </a:solidFill>
                <a:latin typeface="Aptos"/>
              </a:rPr>
              <a:t>Educational institutions generate student data such as attendance, marks, assignments and previous academic performance. When this information is viewed separately, it can be difficult to identify students who may need support.</a:t>
            </a:r>
          </a:p>
        </p:txBody>
      </p:sp>
      <p:sp>
        <p:nvSpPr>
          <p:cNvPr id="7" name="Rounded Rectangle 6"/>
          <p:cNvSpPr/>
          <p:nvPr/>
        </p:nvSpPr>
        <p:spPr>
          <a:xfrm>
            <a:off x="868680" y="3154680"/>
            <a:ext cx="5074920" cy="1554480"/>
          </a:xfrm>
          <a:prstGeom prst="roundRect">
            <a:avLst/>
          </a:prstGeom>
          <a:solidFill>
            <a:srgbClr val="08232B"/>
          </a:solidFill>
          <a:ln w="16510">
            <a:solidFill>
              <a:srgbClr val="CD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33271" y="3291840"/>
            <a:ext cx="4745736" cy="384048"/>
          </a:xfrm>
          <a:prstGeom prst="rect">
            <a:avLst/>
          </a:prstGeom>
          <a:noFill/>
        </p:spPr>
        <p:txBody>
          <a:bodyPr wrap="square" anchor="t">
            <a:spAutoFit/>
          </a:bodyPr>
          <a:lstStyle/>
          <a:p>
            <a:pPr algn="l"/>
            <a:r>
              <a:rPr sz="1800" b="1">
                <a:solidFill>
                  <a:srgbClr val="CD1818"/>
                </a:solidFill>
                <a:latin typeface="Aptos"/>
              </a:rPr>
              <a:t>THE PROBLEM</a:t>
            </a:r>
          </a:p>
        </p:txBody>
      </p:sp>
      <p:sp>
        <p:nvSpPr>
          <p:cNvPr id="9" name="TextBox 8"/>
          <p:cNvSpPr txBox="1"/>
          <p:nvPr/>
        </p:nvSpPr>
        <p:spPr>
          <a:xfrm>
            <a:off x="1033271" y="3749040"/>
            <a:ext cx="4745736" cy="841247"/>
          </a:xfrm>
          <a:prstGeom prst="rect">
            <a:avLst/>
          </a:prstGeom>
          <a:noFill/>
        </p:spPr>
        <p:txBody>
          <a:bodyPr wrap="square" anchor="t">
            <a:spAutoFit/>
          </a:bodyPr>
          <a:lstStyle/>
          <a:p>
            <a:pPr algn="l"/>
            <a:r>
              <a:rPr sz="1450" b="0">
                <a:solidFill>
                  <a:srgbClr val="B8DADB"/>
                </a:solidFill>
                <a:latin typeface="Aptos"/>
              </a:rPr>
              <a:t>Lack of a simple system to combine academic indicators and show student performance and dropout-risk patterns.</a:t>
            </a:r>
          </a:p>
        </p:txBody>
      </p:sp>
      <p:sp>
        <p:nvSpPr>
          <p:cNvPr id="10" name="Rounded Rectangle 9"/>
          <p:cNvSpPr/>
          <p:nvPr/>
        </p:nvSpPr>
        <p:spPr>
          <a:xfrm>
            <a:off x="6172200" y="3154680"/>
            <a:ext cx="4663440" cy="155448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36792" y="3291840"/>
            <a:ext cx="4334255" cy="384048"/>
          </a:xfrm>
          <a:prstGeom prst="rect">
            <a:avLst/>
          </a:prstGeom>
          <a:noFill/>
        </p:spPr>
        <p:txBody>
          <a:bodyPr wrap="square" anchor="t">
            <a:spAutoFit/>
          </a:bodyPr>
          <a:lstStyle/>
          <a:p>
            <a:pPr algn="l"/>
            <a:r>
              <a:rPr sz="1800" b="1">
                <a:solidFill>
                  <a:srgbClr val="89DAE0"/>
                </a:solidFill>
                <a:latin typeface="Aptos"/>
              </a:rPr>
              <a:t>PROPOSED IDEA</a:t>
            </a:r>
          </a:p>
        </p:txBody>
      </p:sp>
      <p:sp>
        <p:nvSpPr>
          <p:cNvPr id="12" name="TextBox 11"/>
          <p:cNvSpPr txBox="1"/>
          <p:nvPr/>
        </p:nvSpPr>
        <p:spPr>
          <a:xfrm>
            <a:off x="6336792" y="3749040"/>
            <a:ext cx="4334255" cy="841247"/>
          </a:xfrm>
          <a:prstGeom prst="rect">
            <a:avLst/>
          </a:prstGeom>
          <a:noFill/>
        </p:spPr>
        <p:txBody>
          <a:bodyPr wrap="square" anchor="t">
            <a:spAutoFit/>
          </a:bodyPr>
          <a:lstStyle/>
          <a:p>
            <a:pPr algn="l"/>
            <a:r>
              <a:rPr sz="1450" b="0">
                <a:solidFill>
                  <a:srgbClr val="B8DADB"/>
                </a:solidFill>
                <a:latin typeface="Aptos"/>
              </a:rPr>
              <a:t>Build EduInsight to analyze student records, classify performance, identify at-risk students and present the results through a dashboard.</a:t>
            </a:r>
          </a:p>
        </p:txBody>
      </p:sp>
      <p:sp>
        <p:nvSpPr>
          <p:cNvPr id="13" name="TextBox 12"/>
          <p:cNvSpPr txBox="1"/>
          <p:nvPr/>
        </p:nvSpPr>
        <p:spPr>
          <a:xfrm>
            <a:off x="914400" y="5257800"/>
            <a:ext cx="10058400" cy="457200"/>
          </a:xfrm>
          <a:prstGeom prst="rect">
            <a:avLst/>
          </a:prstGeom>
          <a:noFill/>
        </p:spPr>
        <p:txBody>
          <a:bodyPr wrap="square" anchor="t">
            <a:spAutoFit/>
          </a:bodyPr>
          <a:lstStyle/>
          <a:p>
            <a:pPr algn="l"/>
            <a:r>
              <a:rPr sz="1900" b="1">
                <a:solidFill>
                  <a:srgbClr val="F5F7F7"/>
                </a:solidFill>
                <a:latin typeface="Aptos"/>
              </a:rPr>
              <a:t>Goal: support early academic intervention using data, not manual observation alone.</a:t>
            </a:r>
          </a:p>
        </p:txBody>
      </p:sp>
      <p:sp>
        <p:nvSpPr>
          <p:cNvPr id="14" name="TextBox 13"/>
          <p:cNvSpPr txBox="1"/>
          <p:nvPr/>
        </p:nvSpPr>
        <p:spPr>
          <a:xfrm>
            <a:off x="10927080" y="6419088"/>
            <a:ext cx="411480" cy="228600"/>
          </a:xfrm>
          <a:prstGeom prst="rect">
            <a:avLst/>
          </a:prstGeom>
          <a:noFill/>
        </p:spPr>
        <p:txBody>
          <a:bodyPr wrap="square" anchor="t">
            <a:spAutoFit/>
          </a:bodyPr>
          <a:lstStyle/>
          <a:p>
            <a:pPr algn="r"/>
            <a:r>
              <a:rPr sz="1000" b="1">
                <a:solidFill>
                  <a:srgbClr val="89DAE0"/>
                </a:solidFill>
                <a:latin typeface="Apto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 y="182880"/>
            <a:ext cx="11521440" cy="6400800"/>
          </a:xfrm>
          <a:prstGeom prst="rect">
            <a:avLst/>
          </a:prstGeom>
          <a:solidFill>
            <a:srgbClr val="0F4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61320" y="0"/>
            <a:ext cx="685800" cy="914400"/>
          </a:xfrm>
          <a:prstGeom prst="rect">
            <a:avLst/>
          </a:prstGeom>
          <a:solidFill>
            <a:srgbClr val="CD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411480"/>
            <a:ext cx="9418320" cy="594360"/>
          </a:xfrm>
          <a:prstGeom prst="rect">
            <a:avLst/>
          </a:prstGeom>
          <a:noFill/>
        </p:spPr>
        <p:txBody>
          <a:bodyPr wrap="square" anchor="t">
            <a:spAutoFit/>
          </a:bodyPr>
          <a:lstStyle/>
          <a:p>
            <a:pPr algn="l"/>
            <a:r>
              <a:rPr sz="2800" b="1">
                <a:solidFill>
                  <a:srgbClr val="F5F7F7"/>
                </a:solidFill>
                <a:latin typeface="Aptos"/>
              </a:rPr>
              <a:t>Real-World Relevance</a:t>
            </a:r>
          </a:p>
        </p:txBody>
      </p:sp>
      <p:sp>
        <p:nvSpPr>
          <p:cNvPr id="6" name="TextBox 5"/>
          <p:cNvSpPr txBox="1"/>
          <p:nvPr/>
        </p:nvSpPr>
        <p:spPr>
          <a:xfrm>
            <a:off x="868680" y="1234440"/>
            <a:ext cx="10058400" cy="502920"/>
          </a:xfrm>
          <a:prstGeom prst="rect">
            <a:avLst/>
          </a:prstGeom>
          <a:noFill/>
        </p:spPr>
        <p:txBody>
          <a:bodyPr wrap="square" anchor="t">
            <a:spAutoFit/>
          </a:bodyPr>
          <a:lstStyle/>
          <a:p>
            <a:pPr algn="l"/>
            <a:r>
              <a:rPr sz="1900" b="0">
                <a:solidFill>
                  <a:srgbClr val="B8DADB"/>
                </a:solidFill>
                <a:latin typeface="Aptos"/>
              </a:rPr>
              <a:t>EduInsight can be used as an academic monitoring tool for colleges and universities.</a:t>
            </a:r>
          </a:p>
        </p:txBody>
      </p:sp>
      <p:sp>
        <p:nvSpPr>
          <p:cNvPr id="7" name="Rounded Rectangle 6"/>
          <p:cNvSpPr/>
          <p:nvPr/>
        </p:nvSpPr>
        <p:spPr>
          <a:xfrm>
            <a:off x="822960" y="1965960"/>
            <a:ext cx="3429000" cy="1874519"/>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2103120"/>
            <a:ext cx="3099816" cy="384048"/>
          </a:xfrm>
          <a:prstGeom prst="rect">
            <a:avLst/>
          </a:prstGeom>
          <a:noFill/>
        </p:spPr>
        <p:txBody>
          <a:bodyPr wrap="square" anchor="t">
            <a:spAutoFit/>
          </a:bodyPr>
          <a:lstStyle/>
          <a:p>
            <a:pPr algn="l"/>
            <a:r>
              <a:rPr sz="1800" b="1">
                <a:solidFill>
                  <a:srgbClr val="89DAE0"/>
                </a:solidFill>
                <a:latin typeface="Aptos"/>
              </a:rPr>
              <a:t>PERFORMANCE ANALYSIS</a:t>
            </a:r>
          </a:p>
        </p:txBody>
      </p:sp>
      <p:sp>
        <p:nvSpPr>
          <p:cNvPr id="9" name="TextBox 8"/>
          <p:cNvSpPr txBox="1"/>
          <p:nvPr/>
        </p:nvSpPr>
        <p:spPr>
          <a:xfrm>
            <a:off x="987552" y="2560320"/>
            <a:ext cx="3099816" cy="1161287"/>
          </a:xfrm>
          <a:prstGeom prst="rect">
            <a:avLst/>
          </a:prstGeom>
          <a:noFill/>
        </p:spPr>
        <p:txBody>
          <a:bodyPr wrap="square" anchor="t">
            <a:spAutoFit/>
          </a:bodyPr>
          <a:lstStyle/>
          <a:p>
            <a:pPr algn="l"/>
            <a:r>
              <a:rPr sz="1450" b="0">
                <a:solidFill>
                  <a:srgbClr val="B8DADB"/>
                </a:solidFill>
                <a:latin typeface="Aptos"/>
              </a:rPr>
              <a:t>Track marks, attendance and academic trends to understand student progress.</a:t>
            </a:r>
          </a:p>
        </p:txBody>
      </p:sp>
      <p:sp>
        <p:nvSpPr>
          <p:cNvPr id="10" name="Rounded Rectangle 9"/>
          <p:cNvSpPr/>
          <p:nvPr/>
        </p:nvSpPr>
        <p:spPr>
          <a:xfrm>
            <a:off x="4389120" y="1965960"/>
            <a:ext cx="3429000" cy="1874519"/>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53712" y="2103120"/>
            <a:ext cx="3099816" cy="384048"/>
          </a:xfrm>
          <a:prstGeom prst="rect">
            <a:avLst/>
          </a:prstGeom>
          <a:noFill/>
        </p:spPr>
        <p:txBody>
          <a:bodyPr wrap="square" anchor="t">
            <a:spAutoFit/>
          </a:bodyPr>
          <a:lstStyle/>
          <a:p>
            <a:pPr algn="l"/>
            <a:r>
              <a:rPr sz="1800" b="1">
                <a:solidFill>
                  <a:srgbClr val="89DAE0"/>
                </a:solidFill>
                <a:latin typeface="Aptos"/>
              </a:rPr>
              <a:t>EARLY SUPPORT</a:t>
            </a:r>
          </a:p>
        </p:txBody>
      </p:sp>
      <p:sp>
        <p:nvSpPr>
          <p:cNvPr id="12" name="TextBox 11"/>
          <p:cNvSpPr txBox="1"/>
          <p:nvPr/>
        </p:nvSpPr>
        <p:spPr>
          <a:xfrm>
            <a:off x="4553712" y="2560320"/>
            <a:ext cx="3099816" cy="1161287"/>
          </a:xfrm>
          <a:prstGeom prst="rect">
            <a:avLst/>
          </a:prstGeom>
          <a:noFill/>
        </p:spPr>
        <p:txBody>
          <a:bodyPr wrap="square" anchor="t">
            <a:spAutoFit/>
          </a:bodyPr>
          <a:lstStyle/>
          <a:p>
            <a:pPr algn="l"/>
            <a:r>
              <a:rPr sz="1450" b="0">
                <a:solidFill>
                  <a:srgbClr val="B8DADB"/>
                </a:solidFill>
                <a:latin typeface="Aptos"/>
              </a:rPr>
              <a:t>Highlight students showing warning signs so faculty can review them earlier.</a:t>
            </a:r>
          </a:p>
        </p:txBody>
      </p:sp>
      <p:sp>
        <p:nvSpPr>
          <p:cNvPr id="13" name="Rounded Rectangle 12"/>
          <p:cNvSpPr/>
          <p:nvPr/>
        </p:nvSpPr>
        <p:spPr>
          <a:xfrm>
            <a:off x="7955279" y="1965960"/>
            <a:ext cx="3429000" cy="1874519"/>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19871" y="2103120"/>
            <a:ext cx="3099816" cy="384048"/>
          </a:xfrm>
          <a:prstGeom prst="rect">
            <a:avLst/>
          </a:prstGeom>
          <a:noFill/>
        </p:spPr>
        <p:txBody>
          <a:bodyPr wrap="square" anchor="t">
            <a:spAutoFit/>
          </a:bodyPr>
          <a:lstStyle/>
          <a:p>
            <a:pPr algn="l"/>
            <a:r>
              <a:rPr sz="1800" b="1">
                <a:solidFill>
                  <a:srgbClr val="89DAE0"/>
                </a:solidFill>
                <a:latin typeface="Aptos"/>
              </a:rPr>
              <a:t>DASHBOARD</a:t>
            </a:r>
          </a:p>
        </p:txBody>
      </p:sp>
      <p:sp>
        <p:nvSpPr>
          <p:cNvPr id="15" name="TextBox 14"/>
          <p:cNvSpPr txBox="1"/>
          <p:nvPr/>
        </p:nvSpPr>
        <p:spPr>
          <a:xfrm>
            <a:off x="8119871" y="2560320"/>
            <a:ext cx="3099816" cy="1161287"/>
          </a:xfrm>
          <a:prstGeom prst="rect">
            <a:avLst/>
          </a:prstGeom>
          <a:noFill/>
        </p:spPr>
        <p:txBody>
          <a:bodyPr wrap="square" anchor="t">
            <a:spAutoFit/>
          </a:bodyPr>
          <a:lstStyle/>
          <a:p>
            <a:pPr algn="l"/>
            <a:r>
              <a:rPr sz="1450" b="0">
                <a:solidFill>
                  <a:srgbClr val="B8DADB"/>
                </a:solidFill>
                <a:latin typeface="Aptos"/>
              </a:rPr>
              <a:t>Convert raw records into simple charts, summaries and risk categories.</a:t>
            </a:r>
          </a:p>
        </p:txBody>
      </p:sp>
      <p:sp>
        <p:nvSpPr>
          <p:cNvPr id="16" name="Rounded Rectangle 15"/>
          <p:cNvSpPr/>
          <p:nvPr/>
        </p:nvSpPr>
        <p:spPr>
          <a:xfrm>
            <a:off x="2606040" y="4251960"/>
            <a:ext cx="6995160" cy="1417320"/>
          </a:xfrm>
          <a:prstGeom prst="roundRect">
            <a:avLst/>
          </a:prstGeom>
          <a:solidFill>
            <a:srgbClr val="08232B"/>
          </a:solidFill>
          <a:ln w="16510">
            <a:solidFill>
              <a:srgbClr val="CD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70632" y="4389120"/>
            <a:ext cx="6665976" cy="384048"/>
          </a:xfrm>
          <a:prstGeom prst="rect">
            <a:avLst/>
          </a:prstGeom>
          <a:noFill/>
        </p:spPr>
        <p:txBody>
          <a:bodyPr wrap="square" anchor="t">
            <a:spAutoFit/>
          </a:bodyPr>
          <a:lstStyle/>
          <a:p>
            <a:pPr algn="l"/>
            <a:r>
              <a:rPr sz="1800" b="1">
                <a:solidFill>
                  <a:srgbClr val="CD1818"/>
                </a:solidFill>
                <a:latin typeface="Aptos"/>
              </a:rPr>
              <a:t>DATA-DRIVEN DECISIONS</a:t>
            </a:r>
          </a:p>
        </p:txBody>
      </p:sp>
      <p:sp>
        <p:nvSpPr>
          <p:cNvPr id="18" name="TextBox 17"/>
          <p:cNvSpPr txBox="1"/>
          <p:nvPr/>
        </p:nvSpPr>
        <p:spPr>
          <a:xfrm>
            <a:off x="2770632" y="4846320"/>
            <a:ext cx="6665976" cy="704088"/>
          </a:xfrm>
          <a:prstGeom prst="rect">
            <a:avLst/>
          </a:prstGeom>
          <a:noFill/>
        </p:spPr>
        <p:txBody>
          <a:bodyPr wrap="square" anchor="t">
            <a:spAutoFit/>
          </a:bodyPr>
          <a:lstStyle/>
          <a:p>
            <a:pPr algn="l"/>
            <a:r>
              <a:rPr sz="1450" b="0">
                <a:solidFill>
                  <a:srgbClr val="B8DADB"/>
                </a:solidFill>
                <a:latin typeface="Aptos"/>
              </a:rPr>
              <a:t>Help faculty understand patterns across attendance, assessments and previous results.</a:t>
            </a:r>
          </a:p>
        </p:txBody>
      </p:sp>
      <p:sp>
        <p:nvSpPr>
          <p:cNvPr id="19" name="TextBox 18"/>
          <p:cNvSpPr txBox="1"/>
          <p:nvPr/>
        </p:nvSpPr>
        <p:spPr>
          <a:xfrm>
            <a:off x="10927080" y="6419088"/>
            <a:ext cx="411480" cy="228600"/>
          </a:xfrm>
          <a:prstGeom prst="rect">
            <a:avLst/>
          </a:prstGeom>
          <a:noFill/>
        </p:spPr>
        <p:txBody>
          <a:bodyPr wrap="square" anchor="t">
            <a:spAutoFit/>
          </a:bodyPr>
          <a:lstStyle/>
          <a:p>
            <a:pPr algn="r"/>
            <a:r>
              <a:rPr sz="1000" b="1">
                <a:solidFill>
                  <a:srgbClr val="89DAE0"/>
                </a:solidFill>
                <a:latin typeface="Aptos"/>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 y="182880"/>
            <a:ext cx="11521440" cy="6400800"/>
          </a:xfrm>
          <a:prstGeom prst="rect">
            <a:avLst/>
          </a:prstGeom>
          <a:solidFill>
            <a:srgbClr val="0F4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61320" y="0"/>
            <a:ext cx="685800" cy="914400"/>
          </a:xfrm>
          <a:prstGeom prst="rect">
            <a:avLst/>
          </a:prstGeom>
          <a:solidFill>
            <a:srgbClr val="CD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411480"/>
            <a:ext cx="9418320" cy="594360"/>
          </a:xfrm>
          <a:prstGeom prst="rect">
            <a:avLst/>
          </a:prstGeom>
          <a:noFill/>
        </p:spPr>
        <p:txBody>
          <a:bodyPr wrap="square" anchor="t">
            <a:spAutoFit/>
          </a:bodyPr>
          <a:lstStyle/>
          <a:p>
            <a:pPr algn="l"/>
            <a:r>
              <a:rPr sz="2800" b="1">
                <a:solidFill>
                  <a:srgbClr val="F5F7F7"/>
                </a:solidFill>
                <a:latin typeface="Aptos"/>
              </a:rPr>
              <a:t>Motivation for Selecting the Problem</a:t>
            </a:r>
          </a:p>
        </p:txBody>
      </p:sp>
      <p:sp>
        <p:nvSpPr>
          <p:cNvPr id="6" name="TextBox 5"/>
          <p:cNvSpPr txBox="1"/>
          <p:nvPr/>
        </p:nvSpPr>
        <p:spPr>
          <a:xfrm>
            <a:off x="914400" y="1417320"/>
            <a:ext cx="9966960" cy="4389120"/>
          </a:xfrm>
          <a:prstGeom prst="rect">
            <a:avLst/>
          </a:prstGeom>
          <a:noFill/>
        </p:spPr>
        <p:txBody>
          <a:bodyPr wrap="square">
            <a:spAutoFit/>
          </a:bodyPr>
          <a:lstStyle/>
          <a:p>
            <a:pPr>
              <a:spcAft>
                <a:spcPts val="800"/>
              </a:spcAft>
              <a:defRPr sz="2000">
                <a:solidFill>
                  <a:srgbClr val="B8DADB"/>
                </a:solidFill>
                <a:latin typeface="Aptos"/>
              </a:defRPr>
            </a:pPr>
            <a:r>
              <a:t>• Student performance is influenced by multiple academic indicators.</a:t>
            </a:r>
          </a:p>
          <a:p>
            <a:pPr>
              <a:spcAft>
                <a:spcPts val="800"/>
              </a:spcAft>
              <a:defRPr sz="2000">
                <a:solidFill>
                  <a:srgbClr val="B8DADB"/>
                </a:solidFill>
                <a:latin typeface="Aptos"/>
              </a:defRPr>
            </a:pPr>
            <a:r>
              <a:t>• A single dashboard can make these indicators easier to understand.</a:t>
            </a:r>
          </a:p>
          <a:p>
            <a:pPr>
              <a:spcAft>
                <a:spcPts val="800"/>
              </a:spcAft>
              <a:defRPr sz="2000">
                <a:solidFill>
                  <a:srgbClr val="B8DADB"/>
                </a:solidFill>
                <a:latin typeface="Aptos"/>
              </a:defRPr>
            </a:pPr>
            <a:r>
              <a:t>• Machine learning provides a simple way to classify students into performance or risk categories.</a:t>
            </a:r>
          </a:p>
          <a:p>
            <a:pPr>
              <a:spcAft>
                <a:spcPts val="800"/>
              </a:spcAft>
              <a:defRPr sz="2000">
                <a:solidFill>
                  <a:srgbClr val="B8DADB"/>
                </a:solidFill>
                <a:latin typeface="Aptos"/>
              </a:defRPr>
            </a:pPr>
            <a:r>
              <a:t>• The project gives practical experience in data preprocessing, visualization and model building.</a:t>
            </a:r>
          </a:p>
          <a:p>
            <a:pPr>
              <a:spcAft>
                <a:spcPts val="800"/>
              </a:spcAft>
              <a:defRPr sz="2000">
                <a:solidFill>
                  <a:srgbClr val="B8DADB"/>
                </a:solidFill>
                <a:latin typeface="Aptos"/>
              </a:defRPr>
            </a:pPr>
            <a:r>
              <a:t>• The system can be developed first with a small dataset and improved later.</a:t>
            </a:r>
          </a:p>
        </p:txBody>
      </p:sp>
      <p:sp>
        <p:nvSpPr>
          <p:cNvPr id="7" name="TextBox 6"/>
          <p:cNvSpPr txBox="1"/>
          <p:nvPr/>
        </p:nvSpPr>
        <p:spPr>
          <a:xfrm>
            <a:off x="914400" y="5715000"/>
            <a:ext cx="9784080" cy="411480"/>
          </a:xfrm>
          <a:prstGeom prst="rect">
            <a:avLst/>
          </a:prstGeom>
          <a:noFill/>
        </p:spPr>
        <p:txBody>
          <a:bodyPr wrap="square" anchor="t">
            <a:spAutoFit/>
          </a:bodyPr>
          <a:lstStyle/>
          <a:p>
            <a:pPr algn="l"/>
            <a:r>
              <a:rPr sz="1800" b="1">
                <a:solidFill>
                  <a:srgbClr val="89DAE0"/>
                </a:solidFill>
                <a:latin typeface="Aptos"/>
              </a:rPr>
              <a:t>Focus: keep the first version simple, understandable and implementable.</a:t>
            </a:r>
          </a:p>
        </p:txBody>
      </p:sp>
      <p:sp>
        <p:nvSpPr>
          <p:cNvPr id="8" name="TextBox 7"/>
          <p:cNvSpPr txBox="1"/>
          <p:nvPr/>
        </p:nvSpPr>
        <p:spPr>
          <a:xfrm>
            <a:off x="10927080" y="6419088"/>
            <a:ext cx="411480" cy="228600"/>
          </a:xfrm>
          <a:prstGeom prst="rect">
            <a:avLst/>
          </a:prstGeom>
          <a:noFill/>
        </p:spPr>
        <p:txBody>
          <a:bodyPr wrap="square" anchor="t">
            <a:spAutoFit/>
          </a:bodyPr>
          <a:lstStyle/>
          <a:p>
            <a:pPr algn="r"/>
            <a:r>
              <a:rPr sz="1000" b="1">
                <a:solidFill>
                  <a:srgbClr val="89DAE0"/>
                </a:solidFill>
                <a:latin typeface="Aptos"/>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 y="182880"/>
            <a:ext cx="11521440" cy="6400800"/>
          </a:xfrm>
          <a:prstGeom prst="rect">
            <a:avLst/>
          </a:prstGeom>
          <a:solidFill>
            <a:srgbClr val="0F4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61320" y="0"/>
            <a:ext cx="685800" cy="914400"/>
          </a:xfrm>
          <a:prstGeom prst="rect">
            <a:avLst/>
          </a:prstGeom>
          <a:solidFill>
            <a:srgbClr val="CD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411480"/>
            <a:ext cx="9418320" cy="594360"/>
          </a:xfrm>
          <a:prstGeom prst="rect">
            <a:avLst/>
          </a:prstGeom>
          <a:noFill/>
        </p:spPr>
        <p:txBody>
          <a:bodyPr wrap="square" anchor="t">
            <a:spAutoFit/>
          </a:bodyPr>
          <a:lstStyle/>
          <a:p>
            <a:pPr algn="l"/>
            <a:r>
              <a:rPr sz="2800" b="1">
                <a:solidFill>
                  <a:srgbClr val="F5F7F7"/>
                </a:solidFill>
                <a:latin typeface="Aptos"/>
              </a:rPr>
              <a:t>Objectives</a:t>
            </a:r>
          </a:p>
        </p:txBody>
      </p:sp>
      <p:sp>
        <p:nvSpPr>
          <p:cNvPr id="6" name="Rounded Rectangle 5"/>
          <p:cNvSpPr/>
          <p:nvPr/>
        </p:nvSpPr>
        <p:spPr>
          <a:xfrm>
            <a:off x="822960" y="1325880"/>
            <a:ext cx="5074920" cy="91440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463039"/>
            <a:ext cx="4745736" cy="384048"/>
          </a:xfrm>
          <a:prstGeom prst="rect">
            <a:avLst/>
          </a:prstGeom>
          <a:noFill/>
        </p:spPr>
        <p:txBody>
          <a:bodyPr wrap="square" anchor="t">
            <a:spAutoFit/>
          </a:bodyPr>
          <a:lstStyle/>
          <a:p>
            <a:pPr algn="l"/>
            <a:r>
              <a:rPr sz="1800" b="1">
                <a:solidFill>
                  <a:srgbClr val="89DAE0"/>
                </a:solidFill>
                <a:latin typeface="Aptos"/>
              </a:rPr>
              <a:t>01</a:t>
            </a:r>
          </a:p>
        </p:txBody>
      </p:sp>
      <p:sp>
        <p:nvSpPr>
          <p:cNvPr id="8" name="TextBox 7"/>
          <p:cNvSpPr txBox="1"/>
          <p:nvPr/>
        </p:nvSpPr>
        <p:spPr>
          <a:xfrm>
            <a:off x="987552" y="1920240"/>
            <a:ext cx="4745736" cy="201167"/>
          </a:xfrm>
          <a:prstGeom prst="rect">
            <a:avLst/>
          </a:prstGeom>
          <a:noFill/>
        </p:spPr>
        <p:txBody>
          <a:bodyPr wrap="square" anchor="t">
            <a:spAutoFit/>
          </a:bodyPr>
          <a:lstStyle/>
          <a:p>
            <a:pPr algn="l"/>
            <a:r>
              <a:rPr sz="1450" b="0">
                <a:solidFill>
                  <a:srgbClr val="B8DADB"/>
                </a:solidFill>
                <a:latin typeface="Aptos"/>
              </a:rPr>
              <a:t>Collect a student-performance dataset.</a:t>
            </a:r>
          </a:p>
        </p:txBody>
      </p:sp>
      <p:sp>
        <p:nvSpPr>
          <p:cNvPr id="9" name="Rounded Rectangle 8"/>
          <p:cNvSpPr/>
          <p:nvPr/>
        </p:nvSpPr>
        <p:spPr>
          <a:xfrm>
            <a:off x="6309360" y="1325880"/>
            <a:ext cx="5074920" cy="91440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73952" y="1463039"/>
            <a:ext cx="4745736" cy="384048"/>
          </a:xfrm>
          <a:prstGeom prst="rect">
            <a:avLst/>
          </a:prstGeom>
          <a:noFill/>
        </p:spPr>
        <p:txBody>
          <a:bodyPr wrap="square" anchor="t">
            <a:spAutoFit/>
          </a:bodyPr>
          <a:lstStyle/>
          <a:p>
            <a:pPr algn="l"/>
            <a:r>
              <a:rPr sz="1800" b="1">
                <a:solidFill>
                  <a:srgbClr val="89DAE0"/>
                </a:solidFill>
                <a:latin typeface="Aptos"/>
              </a:rPr>
              <a:t>02</a:t>
            </a:r>
          </a:p>
        </p:txBody>
      </p:sp>
      <p:sp>
        <p:nvSpPr>
          <p:cNvPr id="11" name="TextBox 10"/>
          <p:cNvSpPr txBox="1"/>
          <p:nvPr/>
        </p:nvSpPr>
        <p:spPr>
          <a:xfrm>
            <a:off x="6473952" y="1920240"/>
            <a:ext cx="4745736" cy="201167"/>
          </a:xfrm>
          <a:prstGeom prst="rect">
            <a:avLst/>
          </a:prstGeom>
          <a:noFill/>
        </p:spPr>
        <p:txBody>
          <a:bodyPr wrap="square" anchor="t">
            <a:spAutoFit/>
          </a:bodyPr>
          <a:lstStyle/>
          <a:p>
            <a:pPr algn="l"/>
            <a:r>
              <a:rPr sz="1450" b="0">
                <a:solidFill>
                  <a:srgbClr val="B8DADB"/>
                </a:solidFill>
                <a:latin typeface="Aptos"/>
              </a:rPr>
              <a:t>Clean missing or inconsistent values.</a:t>
            </a:r>
          </a:p>
        </p:txBody>
      </p:sp>
      <p:sp>
        <p:nvSpPr>
          <p:cNvPr id="12" name="Rounded Rectangle 11"/>
          <p:cNvSpPr/>
          <p:nvPr/>
        </p:nvSpPr>
        <p:spPr>
          <a:xfrm>
            <a:off x="822960" y="2468880"/>
            <a:ext cx="5074920" cy="91440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87552" y="2606040"/>
            <a:ext cx="4745736" cy="384048"/>
          </a:xfrm>
          <a:prstGeom prst="rect">
            <a:avLst/>
          </a:prstGeom>
          <a:noFill/>
        </p:spPr>
        <p:txBody>
          <a:bodyPr wrap="square" anchor="t">
            <a:spAutoFit/>
          </a:bodyPr>
          <a:lstStyle/>
          <a:p>
            <a:pPr algn="l"/>
            <a:r>
              <a:rPr sz="1800" b="1">
                <a:solidFill>
                  <a:srgbClr val="89DAE0"/>
                </a:solidFill>
                <a:latin typeface="Aptos"/>
              </a:rPr>
              <a:t>03</a:t>
            </a:r>
          </a:p>
        </p:txBody>
      </p:sp>
      <p:sp>
        <p:nvSpPr>
          <p:cNvPr id="14" name="TextBox 13"/>
          <p:cNvSpPr txBox="1"/>
          <p:nvPr/>
        </p:nvSpPr>
        <p:spPr>
          <a:xfrm>
            <a:off x="987552" y="3063240"/>
            <a:ext cx="4745736" cy="201167"/>
          </a:xfrm>
          <a:prstGeom prst="rect">
            <a:avLst/>
          </a:prstGeom>
          <a:noFill/>
        </p:spPr>
        <p:txBody>
          <a:bodyPr wrap="square" anchor="t">
            <a:spAutoFit/>
          </a:bodyPr>
          <a:lstStyle/>
          <a:p>
            <a:pPr algn="l"/>
            <a:r>
              <a:rPr sz="1450" b="0">
                <a:solidFill>
                  <a:srgbClr val="B8DADB"/>
                </a:solidFill>
                <a:latin typeface="Aptos"/>
              </a:rPr>
              <a:t>Analyze important academic features.</a:t>
            </a:r>
          </a:p>
        </p:txBody>
      </p:sp>
      <p:sp>
        <p:nvSpPr>
          <p:cNvPr id="15" name="Rounded Rectangle 14"/>
          <p:cNvSpPr/>
          <p:nvPr/>
        </p:nvSpPr>
        <p:spPr>
          <a:xfrm>
            <a:off x="6309360" y="2468880"/>
            <a:ext cx="5074920" cy="91440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73952" y="2606040"/>
            <a:ext cx="4745736" cy="384048"/>
          </a:xfrm>
          <a:prstGeom prst="rect">
            <a:avLst/>
          </a:prstGeom>
          <a:noFill/>
        </p:spPr>
        <p:txBody>
          <a:bodyPr wrap="square" anchor="t">
            <a:spAutoFit/>
          </a:bodyPr>
          <a:lstStyle/>
          <a:p>
            <a:pPr algn="l"/>
            <a:r>
              <a:rPr sz="1800" b="1">
                <a:solidFill>
                  <a:srgbClr val="89DAE0"/>
                </a:solidFill>
                <a:latin typeface="Aptos"/>
              </a:rPr>
              <a:t>04</a:t>
            </a:r>
          </a:p>
        </p:txBody>
      </p:sp>
      <p:sp>
        <p:nvSpPr>
          <p:cNvPr id="17" name="TextBox 16"/>
          <p:cNvSpPr txBox="1"/>
          <p:nvPr/>
        </p:nvSpPr>
        <p:spPr>
          <a:xfrm>
            <a:off x="6473952" y="3063240"/>
            <a:ext cx="4745736" cy="201167"/>
          </a:xfrm>
          <a:prstGeom prst="rect">
            <a:avLst/>
          </a:prstGeom>
          <a:noFill/>
        </p:spPr>
        <p:txBody>
          <a:bodyPr wrap="square" anchor="t">
            <a:spAutoFit/>
          </a:bodyPr>
          <a:lstStyle/>
          <a:p>
            <a:pPr algn="l"/>
            <a:r>
              <a:rPr sz="1450" b="0">
                <a:solidFill>
                  <a:srgbClr val="B8DADB"/>
                </a:solidFill>
                <a:latin typeface="Aptos"/>
              </a:rPr>
              <a:t>Visualize performance trends using charts.</a:t>
            </a:r>
          </a:p>
        </p:txBody>
      </p:sp>
      <p:sp>
        <p:nvSpPr>
          <p:cNvPr id="18" name="Rounded Rectangle 17"/>
          <p:cNvSpPr/>
          <p:nvPr/>
        </p:nvSpPr>
        <p:spPr>
          <a:xfrm>
            <a:off x="822960" y="3611880"/>
            <a:ext cx="5074920" cy="91440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7552" y="3749040"/>
            <a:ext cx="4745736" cy="384048"/>
          </a:xfrm>
          <a:prstGeom prst="rect">
            <a:avLst/>
          </a:prstGeom>
          <a:noFill/>
        </p:spPr>
        <p:txBody>
          <a:bodyPr wrap="square" anchor="t">
            <a:spAutoFit/>
          </a:bodyPr>
          <a:lstStyle/>
          <a:p>
            <a:pPr algn="l"/>
            <a:r>
              <a:rPr sz="1800" b="1">
                <a:solidFill>
                  <a:srgbClr val="89DAE0"/>
                </a:solidFill>
                <a:latin typeface="Aptos"/>
              </a:rPr>
              <a:t>05</a:t>
            </a:r>
          </a:p>
        </p:txBody>
      </p:sp>
      <p:sp>
        <p:nvSpPr>
          <p:cNvPr id="20" name="TextBox 19"/>
          <p:cNvSpPr txBox="1"/>
          <p:nvPr/>
        </p:nvSpPr>
        <p:spPr>
          <a:xfrm>
            <a:off x="987552" y="4206240"/>
            <a:ext cx="4745736" cy="201167"/>
          </a:xfrm>
          <a:prstGeom prst="rect">
            <a:avLst/>
          </a:prstGeom>
          <a:noFill/>
        </p:spPr>
        <p:txBody>
          <a:bodyPr wrap="square" anchor="t">
            <a:spAutoFit/>
          </a:bodyPr>
          <a:lstStyle/>
          <a:p>
            <a:pPr algn="l"/>
            <a:r>
              <a:rPr sz="1450" b="0">
                <a:solidFill>
                  <a:srgbClr val="B8DADB"/>
                </a:solidFill>
                <a:latin typeface="Aptos"/>
              </a:rPr>
              <a:t>Build a simple dropout-risk classification model.</a:t>
            </a:r>
          </a:p>
        </p:txBody>
      </p:sp>
      <p:sp>
        <p:nvSpPr>
          <p:cNvPr id="21" name="Rounded Rectangle 20"/>
          <p:cNvSpPr/>
          <p:nvPr/>
        </p:nvSpPr>
        <p:spPr>
          <a:xfrm>
            <a:off x="6309360" y="3611880"/>
            <a:ext cx="5074920" cy="91440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3749040"/>
            <a:ext cx="4745736" cy="384048"/>
          </a:xfrm>
          <a:prstGeom prst="rect">
            <a:avLst/>
          </a:prstGeom>
          <a:noFill/>
        </p:spPr>
        <p:txBody>
          <a:bodyPr wrap="square" anchor="t">
            <a:spAutoFit/>
          </a:bodyPr>
          <a:lstStyle/>
          <a:p>
            <a:pPr algn="l"/>
            <a:r>
              <a:rPr sz="1800" b="1">
                <a:solidFill>
                  <a:srgbClr val="89DAE0"/>
                </a:solidFill>
                <a:latin typeface="Aptos"/>
              </a:rPr>
              <a:t>06</a:t>
            </a:r>
          </a:p>
        </p:txBody>
      </p:sp>
      <p:sp>
        <p:nvSpPr>
          <p:cNvPr id="23" name="TextBox 22"/>
          <p:cNvSpPr txBox="1"/>
          <p:nvPr/>
        </p:nvSpPr>
        <p:spPr>
          <a:xfrm>
            <a:off x="6473952" y="4206240"/>
            <a:ext cx="4745736" cy="201167"/>
          </a:xfrm>
          <a:prstGeom prst="rect">
            <a:avLst/>
          </a:prstGeom>
          <a:noFill/>
        </p:spPr>
        <p:txBody>
          <a:bodyPr wrap="square" anchor="t">
            <a:spAutoFit/>
          </a:bodyPr>
          <a:lstStyle/>
          <a:p>
            <a:pPr algn="l"/>
            <a:r>
              <a:rPr sz="1450" b="0">
                <a:solidFill>
                  <a:srgbClr val="B8DADB"/>
                </a:solidFill>
                <a:latin typeface="Aptos"/>
              </a:rPr>
              <a:t>Compare Logistic Regression and Random Forest.</a:t>
            </a:r>
          </a:p>
        </p:txBody>
      </p:sp>
      <p:sp>
        <p:nvSpPr>
          <p:cNvPr id="24" name="Rounded Rectangle 23"/>
          <p:cNvSpPr/>
          <p:nvPr/>
        </p:nvSpPr>
        <p:spPr>
          <a:xfrm>
            <a:off x="822960" y="4754880"/>
            <a:ext cx="5074920" cy="914400"/>
          </a:xfrm>
          <a:prstGeom prst="roundRect">
            <a:avLst/>
          </a:prstGeom>
          <a:solidFill>
            <a:srgbClr val="08232B"/>
          </a:solidFill>
          <a:ln w="16510">
            <a:solidFill>
              <a:srgbClr val="CD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7552" y="4892040"/>
            <a:ext cx="4745736" cy="384048"/>
          </a:xfrm>
          <a:prstGeom prst="rect">
            <a:avLst/>
          </a:prstGeom>
          <a:noFill/>
        </p:spPr>
        <p:txBody>
          <a:bodyPr wrap="square" anchor="t">
            <a:spAutoFit/>
          </a:bodyPr>
          <a:lstStyle/>
          <a:p>
            <a:pPr algn="l"/>
            <a:r>
              <a:rPr sz="1800" b="1">
                <a:solidFill>
                  <a:srgbClr val="CD1818"/>
                </a:solidFill>
                <a:latin typeface="Aptos"/>
              </a:rPr>
              <a:t>07</a:t>
            </a:r>
          </a:p>
        </p:txBody>
      </p:sp>
      <p:sp>
        <p:nvSpPr>
          <p:cNvPr id="26" name="TextBox 25"/>
          <p:cNvSpPr txBox="1"/>
          <p:nvPr/>
        </p:nvSpPr>
        <p:spPr>
          <a:xfrm>
            <a:off x="987552" y="5349240"/>
            <a:ext cx="4745736" cy="201167"/>
          </a:xfrm>
          <a:prstGeom prst="rect">
            <a:avLst/>
          </a:prstGeom>
          <a:noFill/>
        </p:spPr>
        <p:txBody>
          <a:bodyPr wrap="square" anchor="t">
            <a:spAutoFit/>
          </a:bodyPr>
          <a:lstStyle/>
          <a:p>
            <a:pPr algn="l"/>
            <a:r>
              <a:rPr sz="1450" b="0">
                <a:solidFill>
                  <a:srgbClr val="B8DADB"/>
                </a:solidFill>
                <a:latin typeface="Aptos"/>
              </a:rPr>
              <a:t>Show student insights in an easy dashboard.</a:t>
            </a:r>
          </a:p>
        </p:txBody>
      </p:sp>
      <p:sp>
        <p:nvSpPr>
          <p:cNvPr id="27" name="Rounded Rectangle 26"/>
          <p:cNvSpPr/>
          <p:nvPr/>
        </p:nvSpPr>
        <p:spPr>
          <a:xfrm>
            <a:off x="6309360" y="4754880"/>
            <a:ext cx="5074920" cy="914400"/>
          </a:xfrm>
          <a:prstGeom prst="roundRect">
            <a:avLst/>
          </a:prstGeom>
          <a:solidFill>
            <a:srgbClr val="08232B"/>
          </a:solidFill>
          <a:ln w="16510">
            <a:solidFill>
              <a:srgbClr val="CD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73952" y="4892040"/>
            <a:ext cx="4745736" cy="384048"/>
          </a:xfrm>
          <a:prstGeom prst="rect">
            <a:avLst/>
          </a:prstGeom>
          <a:noFill/>
        </p:spPr>
        <p:txBody>
          <a:bodyPr wrap="square" anchor="t">
            <a:spAutoFit/>
          </a:bodyPr>
          <a:lstStyle/>
          <a:p>
            <a:pPr algn="l"/>
            <a:r>
              <a:rPr sz="1800" b="1">
                <a:solidFill>
                  <a:srgbClr val="CD1818"/>
                </a:solidFill>
                <a:latin typeface="Aptos"/>
              </a:rPr>
              <a:t>08</a:t>
            </a:r>
          </a:p>
        </p:txBody>
      </p:sp>
      <p:sp>
        <p:nvSpPr>
          <p:cNvPr id="29" name="TextBox 28"/>
          <p:cNvSpPr txBox="1"/>
          <p:nvPr/>
        </p:nvSpPr>
        <p:spPr>
          <a:xfrm>
            <a:off x="6473952" y="5349240"/>
            <a:ext cx="4745736" cy="201167"/>
          </a:xfrm>
          <a:prstGeom prst="rect">
            <a:avLst/>
          </a:prstGeom>
          <a:noFill/>
        </p:spPr>
        <p:txBody>
          <a:bodyPr wrap="square" anchor="t">
            <a:spAutoFit/>
          </a:bodyPr>
          <a:lstStyle/>
          <a:p>
            <a:pPr algn="l"/>
            <a:r>
              <a:rPr sz="1450" b="0">
                <a:solidFill>
                  <a:srgbClr val="B8DADB"/>
                </a:solidFill>
                <a:latin typeface="Aptos"/>
              </a:rPr>
              <a:t>Identify areas where early academic support may be useful.</a:t>
            </a:r>
          </a:p>
        </p:txBody>
      </p:sp>
      <p:sp>
        <p:nvSpPr>
          <p:cNvPr id="30" name="TextBox 29"/>
          <p:cNvSpPr txBox="1"/>
          <p:nvPr/>
        </p:nvSpPr>
        <p:spPr>
          <a:xfrm>
            <a:off x="10927080" y="6419088"/>
            <a:ext cx="411480" cy="228600"/>
          </a:xfrm>
          <a:prstGeom prst="rect">
            <a:avLst/>
          </a:prstGeom>
          <a:noFill/>
        </p:spPr>
        <p:txBody>
          <a:bodyPr wrap="square" anchor="t">
            <a:spAutoFit/>
          </a:bodyPr>
          <a:lstStyle/>
          <a:p>
            <a:pPr algn="r"/>
            <a:r>
              <a:rPr sz="1000" b="1">
                <a:solidFill>
                  <a:srgbClr val="89DAE0"/>
                </a:solidFill>
                <a:latin typeface="Aptos"/>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 y="182880"/>
            <a:ext cx="11521440" cy="6400800"/>
          </a:xfrm>
          <a:prstGeom prst="rect">
            <a:avLst/>
          </a:prstGeom>
          <a:solidFill>
            <a:srgbClr val="0F4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61320" y="0"/>
            <a:ext cx="685800" cy="914400"/>
          </a:xfrm>
          <a:prstGeom prst="rect">
            <a:avLst/>
          </a:prstGeom>
          <a:solidFill>
            <a:srgbClr val="CD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411480"/>
            <a:ext cx="9418320" cy="594360"/>
          </a:xfrm>
          <a:prstGeom prst="rect">
            <a:avLst/>
          </a:prstGeom>
          <a:noFill/>
        </p:spPr>
        <p:txBody>
          <a:bodyPr wrap="square" anchor="t">
            <a:spAutoFit/>
          </a:bodyPr>
          <a:lstStyle/>
          <a:p>
            <a:pPr algn="l"/>
            <a:r>
              <a:rPr sz="2800" b="1">
                <a:solidFill>
                  <a:srgbClr val="F5F7F7"/>
                </a:solidFill>
                <a:latin typeface="Aptos"/>
              </a:rPr>
              <a:t>Existing System / Proposed System</a:t>
            </a:r>
          </a:p>
        </p:txBody>
      </p:sp>
      <p:sp>
        <p:nvSpPr>
          <p:cNvPr id="6" name="Rounded Rectangle 5"/>
          <p:cNvSpPr/>
          <p:nvPr/>
        </p:nvSpPr>
        <p:spPr>
          <a:xfrm>
            <a:off x="868680" y="1417320"/>
            <a:ext cx="5074920" cy="3474720"/>
          </a:xfrm>
          <a:prstGeom prst="roundRect">
            <a:avLst/>
          </a:prstGeom>
          <a:solidFill>
            <a:srgbClr val="08232B"/>
          </a:solidFill>
          <a:ln w="16510">
            <a:solidFill>
              <a:srgbClr val="CD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3271" y="1554480"/>
            <a:ext cx="4745736" cy="384048"/>
          </a:xfrm>
          <a:prstGeom prst="rect">
            <a:avLst/>
          </a:prstGeom>
          <a:noFill/>
        </p:spPr>
        <p:txBody>
          <a:bodyPr wrap="square" anchor="t">
            <a:spAutoFit/>
          </a:bodyPr>
          <a:lstStyle/>
          <a:p>
            <a:pPr algn="l"/>
            <a:r>
              <a:rPr sz="1800" b="1">
                <a:solidFill>
                  <a:srgbClr val="CD1818"/>
                </a:solidFill>
                <a:latin typeface="Aptos"/>
              </a:rPr>
              <a:t>EXISTING / MANUAL APPROACH</a:t>
            </a:r>
          </a:p>
        </p:txBody>
      </p:sp>
      <p:sp>
        <p:nvSpPr>
          <p:cNvPr id="8" name="TextBox 7"/>
          <p:cNvSpPr txBox="1"/>
          <p:nvPr/>
        </p:nvSpPr>
        <p:spPr>
          <a:xfrm>
            <a:off x="1033271" y="2011680"/>
            <a:ext cx="4745736" cy="2761487"/>
          </a:xfrm>
          <a:prstGeom prst="rect">
            <a:avLst/>
          </a:prstGeom>
          <a:noFill/>
        </p:spPr>
        <p:txBody>
          <a:bodyPr wrap="square" anchor="t">
            <a:spAutoFit/>
          </a:bodyPr>
          <a:lstStyle/>
          <a:p>
            <a:pPr algn="l"/>
            <a:r>
              <a:rPr sz="1450" b="0">
                <a:solidFill>
                  <a:srgbClr val="B8DADB"/>
                </a:solidFill>
                <a:latin typeface="Aptos"/>
              </a:rPr>
              <a:t>• Data may be stored in separate sheets
• Faculty manually checks multiple indicators
• Difficult to see overall patterns quickly
• Limited early-risk visibility</a:t>
            </a:r>
          </a:p>
        </p:txBody>
      </p:sp>
      <p:sp>
        <p:nvSpPr>
          <p:cNvPr id="9" name="Rounded Rectangle 8"/>
          <p:cNvSpPr/>
          <p:nvPr/>
        </p:nvSpPr>
        <p:spPr>
          <a:xfrm>
            <a:off x="6217920" y="1417320"/>
            <a:ext cx="5074920" cy="347472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82512" y="1554480"/>
            <a:ext cx="4745736" cy="384048"/>
          </a:xfrm>
          <a:prstGeom prst="rect">
            <a:avLst/>
          </a:prstGeom>
          <a:noFill/>
        </p:spPr>
        <p:txBody>
          <a:bodyPr wrap="square" anchor="t">
            <a:spAutoFit/>
          </a:bodyPr>
          <a:lstStyle/>
          <a:p>
            <a:pPr algn="l"/>
            <a:r>
              <a:rPr sz="1800" b="1">
                <a:solidFill>
                  <a:srgbClr val="89DAE0"/>
                </a:solidFill>
                <a:latin typeface="Aptos"/>
              </a:rPr>
              <a:t>PROPOSED — EDUINSIGHT</a:t>
            </a:r>
          </a:p>
        </p:txBody>
      </p:sp>
      <p:sp>
        <p:nvSpPr>
          <p:cNvPr id="11" name="TextBox 10"/>
          <p:cNvSpPr txBox="1"/>
          <p:nvPr/>
        </p:nvSpPr>
        <p:spPr>
          <a:xfrm>
            <a:off x="6382512" y="2011680"/>
            <a:ext cx="4745736" cy="2761487"/>
          </a:xfrm>
          <a:prstGeom prst="rect">
            <a:avLst/>
          </a:prstGeom>
          <a:noFill/>
        </p:spPr>
        <p:txBody>
          <a:bodyPr wrap="square" anchor="t">
            <a:spAutoFit/>
          </a:bodyPr>
          <a:lstStyle/>
          <a:p>
            <a:pPr algn="l"/>
            <a:r>
              <a:rPr sz="1450" b="0">
                <a:solidFill>
                  <a:srgbClr val="B8DADB"/>
                </a:solidFill>
                <a:latin typeface="Aptos"/>
              </a:rPr>
              <a:t>• One structured student dataset
• Automated preprocessing and analysis
• Performance and risk visualizations
• Simple ML classification
• Dashboard for quick interpretation</a:t>
            </a:r>
          </a:p>
        </p:txBody>
      </p:sp>
      <p:sp>
        <p:nvSpPr>
          <p:cNvPr id="12" name="TextBox 11"/>
          <p:cNvSpPr txBox="1"/>
          <p:nvPr/>
        </p:nvSpPr>
        <p:spPr>
          <a:xfrm>
            <a:off x="914400" y="5349240"/>
            <a:ext cx="10058400" cy="640080"/>
          </a:xfrm>
          <a:prstGeom prst="rect">
            <a:avLst/>
          </a:prstGeom>
          <a:noFill/>
        </p:spPr>
        <p:txBody>
          <a:bodyPr wrap="square" anchor="t">
            <a:spAutoFit/>
          </a:bodyPr>
          <a:lstStyle/>
          <a:p>
            <a:pPr algn="l"/>
            <a:r>
              <a:rPr sz="1700" b="1">
                <a:solidFill>
                  <a:srgbClr val="B8DADB"/>
                </a:solidFill>
                <a:latin typeface="Aptos"/>
              </a:rPr>
              <a:t>The proposed system is intended as a prototype for academic analytics, not as an automatic final decision-maker.</a:t>
            </a:r>
          </a:p>
        </p:txBody>
      </p:sp>
      <p:sp>
        <p:nvSpPr>
          <p:cNvPr id="13" name="TextBox 12"/>
          <p:cNvSpPr txBox="1"/>
          <p:nvPr/>
        </p:nvSpPr>
        <p:spPr>
          <a:xfrm>
            <a:off x="10927080" y="6419088"/>
            <a:ext cx="411480" cy="228600"/>
          </a:xfrm>
          <a:prstGeom prst="rect">
            <a:avLst/>
          </a:prstGeom>
          <a:noFill/>
        </p:spPr>
        <p:txBody>
          <a:bodyPr wrap="square" anchor="t">
            <a:spAutoFit/>
          </a:bodyPr>
          <a:lstStyle/>
          <a:p>
            <a:pPr algn="r"/>
            <a:r>
              <a:rPr sz="1000" b="1">
                <a:solidFill>
                  <a:srgbClr val="89DAE0"/>
                </a:solidFill>
                <a:latin typeface="Aptos"/>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 y="182880"/>
            <a:ext cx="11521440" cy="6400800"/>
          </a:xfrm>
          <a:prstGeom prst="rect">
            <a:avLst/>
          </a:prstGeom>
          <a:solidFill>
            <a:srgbClr val="0F4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61320" y="0"/>
            <a:ext cx="685800" cy="914400"/>
          </a:xfrm>
          <a:prstGeom prst="rect">
            <a:avLst/>
          </a:prstGeom>
          <a:solidFill>
            <a:srgbClr val="CD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411480"/>
            <a:ext cx="9418320" cy="594360"/>
          </a:xfrm>
          <a:prstGeom prst="rect">
            <a:avLst/>
          </a:prstGeom>
          <a:noFill/>
        </p:spPr>
        <p:txBody>
          <a:bodyPr wrap="square" anchor="t">
            <a:spAutoFit/>
          </a:bodyPr>
          <a:lstStyle/>
          <a:p>
            <a:pPr algn="l"/>
            <a:r>
              <a:rPr sz="2800" b="1">
                <a:solidFill>
                  <a:srgbClr val="F5F7F7"/>
                </a:solidFill>
                <a:latin typeface="Aptos"/>
              </a:rPr>
              <a:t>Project Methodology</a:t>
            </a:r>
          </a:p>
        </p:txBody>
      </p:sp>
      <p:sp>
        <p:nvSpPr>
          <p:cNvPr id="6" name="Rounded Rectangle 5"/>
          <p:cNvSpPr/>
          <p:nvPr/>
        </p:nvSpPr>
        <p:spPr>
          <a:xfrm>
            <a:off x="502920" y="1874519"/>
            <a:ext cx="1481328" cy="713232"/>
          </a:xfrm>
          <a:prstGeom prst="roundRect">
            <a:avLst/>
          </a:prstGeom>
          <a:solidFill>
            <a:srgbClr val="08232B"/>
          </a:solidFill>
          <a:ln w="1905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72" y="1920239"/>
            <a:ext cx="1335024" cy="621792"/>
          </a:xfrm>
          <a:prstGeom prst="rect">
            <a:avLst/>
          </a:prstGeom>
          <a:noFill/>
        </p:spPr>
        <p:txBody>
          <a:bodyPr wrap="square" anchor="ctr">
            <a:spAutoFit/>
          </a:bodyPr>
          <a:lstStyle/>
          <a:p>
            <a:pPr algn="ctr"/>
            <a:r>
              <a:rPr sz="1500" b="1">
                <a:solidFill>
                  <a:srgbClr val="F5F7F7"/>
                </a:solidFill>
                <a:latin typeface="Aptos"/>
              </a:rPr>
              <a:t>DATA COLLECTION</a:t>
            </a:r>
          </a:p>
        </p:txBody>
      </p:sp>
      <p:sp>
        <p:nvSpPr>
          <p:cNvPr id="8" name="TextBox 7"/>
          <p:cNvSpPr txBox="1"/>
          <p:nvPr/>
        </p:nvSpPr>
        <p:spPr>
          <a:xfrm>
            <a:off x="502920" y="2679192"/>
            <a:ext cx="1481328" cy="594360"/>
          </a:xfrm>
          <a:prstGeom prst="rect">
            <a:avLst/>
          </a:prstGeom>
          <a:noFill/>
        </p:spPr>
        <p:txBody>
          <a:bodyPr wrap="square" anchor="t">
            <a:spAutoFit/>
          </a:bodyPr>
          <a:lstStyle/>
          <a:p>
            <a:pPr algn="ctr"/>
            <a:r>
              <a:rPr sz="1150" b="0">
                <a:solidFill>
                  <a:srgbClr val="B8DADB"/>
                </a:solidFill>
                <a:latin typeface="Aptos"/>
              </a:rPr>
              <a:t>Student academic records</a:t>
            </a:r>
          </a:p>
        </p:txBody>
      </p:sp>
      <p:sp>
        <p:nvSpPr>
          <p:cNvPr id="9" name="Right Arrow 8"/>
          <p:cNvSpPr/>
          <p:nvPr/>
        </p:nvSpPr>
        <p:spPr>
          <a:xfrm>
            <a:off x="2020824" y="2103120"/>
            <a:ext cx="320040" cy="228600"/>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167128" y="1874519"/>
            <a:ext cx="1481328" cy="713232"/>
          </a:xfrm>
          <a:prstGeom prst="roundRect">
            <a:avLst/>
          </a:prstGeom>
          <a:solidFill>
            <a:srgbClr val="08232B"/>
          </a:solidFill>
          <a:ln w="1905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40280" y="1920239"/>
            <a:ext cx="1335024" cy="621792"/>
          </a:xfrm>
          <a:prstGeom prst="rect">
            <a:avLst/>
          </a:prstGeom>
          <a:noFill/>
        </p:spPr>
        <p:txBody>
          <a:bodyPr wrap="square" anchor="ctr">
            <a:spAutoFit/>
          </a:bodyPr>
          <a:lstStyle/>
          <a:p>
            <a:pPr algn="ctr"/>
            <a:r>
              <a:rPr sz="1500" b="1">
                <a:solidFill>
                  <a:srgbClr val="F5F7F7"/>
                </a:solidFill>
                <a:latin typeface="Aptos"/>
              </a:rPr>
              <a:t>PREPROCESSING</a:t>
            </a:r>
          </a:p>
        </p:txBody>
      </p:sp>
      <p:sp>
        <p:nvSpPr>
          <p:cNvPr id="12" name="TextBox 11"/>
          <p:cNvSpPr txBox="1"/>
          <p:nvPr/>
        </p:nvSpPr>
        <p:spPr>
          <a:xfrm>
            <a:off x="2167128" y="2679192"/>
            <a:ext cx="1481328" cy="594360"/>
          </a:xfrm>
          <a:prstGeom prst="rect">
            <a:avLst/>
          </a:prstGeom>
          <a:noFill/>
        </p:spPr>
        <p:txBody>
          <a:bodyPr wrap="square" anchor="t">
            <a:spAutoFit/>
          </a:bodyPr>
          <a:lstStyle/>
          <a:p>
            <a:pPr algn="ctr"/>
            <a:r>
              <a:rPr sz="1150" b="0">
                <a:solidFill>
                  <a:srgbClr val="B8DADB"/>
                </a:solidFill>
                <a:latin typeface="Aptos"/>
              </a:rPr>
              <a:t>Clean and prepare data</a:t>
            </a:r>
          </a:p>
        </p:txBody>
      </p:sp>
      <p:sp>
        <p:nvSpPr>
          <p:cNvPr id="13" name="Right Arrow 12"/>
          <p:cNvSpPr/>
          <p:nvPr/>
        </p:nvSpPr>
        <p:spPr>
          <a:xfrm>
            <a:off x="3685032" y="2103120"/>
            <a:ext cx="320040" cy="228600"/>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831336" y="1874519"/>
            <a:ext cx="1481328" cy="713232"/>
          </a:xfrm>
          <a:prstGeom prst="roundRect">
            <a:avLst/>
          </a:prstGeom>
          <a:solidFill>
            <a:srgbClr val="08232B"/>
          </a:solidFill>
          <a:ln w="1905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904488" y="1920239"/>
            <a:ext cx="1335024" cy="621792"/>
          </a:xfrm>
          <a:prstGeom prst="rect">
            <a:avLst/>
          </a:prstGeom>
          <a:noFill/>
        </p:spPr>
        <p:txBody>
          <a:bodyPr wrap="square" anchor="ctr">
            <a:spAutoFit/>
          </a:bodyPr>
          <a:lstStyle/>
          <a:p>
            <a:pPr algn="ctr"/>
            <a:r>
              <a:rPr sz="1500" b="1">
                <a:solidFill>
                  <a:srgbClr val="F5F7F7"/>
                </a:solidFill>
                <a:latin typeface="Aptos"/>
              </a:rPr>
              <a:t>EDA</a:t>
            </a:r>
          </a:p>
        </p:txBody>
      </p:sp>
      <p:sp>
        <p:nvSpPr>
          <p:cNvPr id="16" name="TextBox 15"/>
          <p:cNvSpPr txBox="1"/>
          <p:nvPr/>
        </p:nvSpPr>
        <p:spPr>
          <a:xfrm>
            <a:off x="3831336" y="2679192"/>
            <a:ext cx="1481328" cy="594360"/>
          </a:xfrm>
          <a:prstGeom prst="rect">
            <a:avLst/>
          </a:prstGeom>
          <a:noFill/>
        </p:spPr>
        <p:txBody>
          <a:bodyPr wrap="square" anchor="t">
            <a:spAutoFit/>
          </a:bodyPr>
          <a:lstStyle/>
          <a:p>
            <a:pPr algn="ctr"/>
            <a:r>
              <a:rPr sz="1150" b="0">
                <a:solidFill>
                  <a:srgbClr val="B8DADB"/>
                </a:solidFill>
                <a:latin typeface="Aptos"/>
              </a:rPr>
              <a:t>Find trends and patterns</a:t>
            </a:r>
          </a:p>
        </p:txBody>
      </p:sp>
      <p:sp>
        <p:nvSpPr>
          <p:cNvPr id="17" name="Right Arrow 16"/>
          <p:cNvSpPr/>
          <p:nvPr/>
        </p:nvSpPr>
        <p:spPr>
          <a:xfrm>
            <a:off x="5349240" y="2103120"/>
            <a:ext cx="320040" cy="228600"/>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495544" y="1874519"/>
            <a:ext cx="1481328" cy="713232"/>
          </a:xfrm>
          <a:prstGeom prst="roundRect">
            <a:avLst/>
          </a:prstGeom>
          <a:solidFill>
            <a:srgbClr val="08232B"/>
          </a:solidFill>
          <a:ln w="1905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568696" y="1920239"/>
            <a:ext cx="1335024" cy="621792"/>
          </a:xfrm>
          <a:prstGeom prst="rect">
            <a:avLst/>
          </a:prstGeom>
          <a:noFill/>
        </p:spPr>
        <p:txBody>
          <a:bodyPr wrap="square" anchor="ctr">
            <a:spAutoFit/>
          </a:bodyPr>
          <a:lstStyle/>
          <a:p>
            <a:pPr algn="ctr"/>
            <a:r>
              <a:rPr sz="1500" b="1">
                <a:solidFill>
                  <a:srgbClr val="F5F7F7"/>
                </a:solidFill>
                <a:latin typeface="Aptos"/>
              </a:rPr>
              <a:t>FEATURE SELECTION</a:t>
            </a:r>
          </a:p>
        </p:txBody>
      </p:sp>
      <p:sp>
        <p:nvSpPr>
          <p:cNvPr id="20" name="TextBox 19"/>
          <p:cNvSpPr txBox="1"/>
          <p:nvPr/>
        </p:nvSpPr>
        <p:spPr>
          <a:xfrm>
            <a:off x="5495544" y="2679192"/>
            <a:ext cx="1481328" cy="594360"/>
          </a:xfrm>
          <a:prstGeom prst="rect">
            <a:avLst/>
          </a:prstGeom>
          <a:noFill/>
        </p:spPr>
        <p:txBody>
          <a:bodyPr wrap="square" anchor="t">
            <a:spAutoFit/>
          </a:bodyPr>
          <a:lstStyle/>
          <a:p>
            <a:pPr algn="ctr"/>
            <a:r>
              <a:rPr sz="1150" b="0">
                <a:solidFill>
                  <a:srgbClr val="B8DADB"/>
                </a:solidFill>
                <a:latin typeface="Aptos"/>
              </a:rPr>
              <a:t>Choose useful indicators</a:t>
            </a:r>
          </a:p>
        </p:txBody>
      </p:sp>
      <p:sp>
        <p:nvSpPr>
          <p:cNvPr id="21" name="Right Arrow 20"/>
          <p:cNvSpPr/>
          <p:nvPr/>
        </p:nvSpPr>
        <p:spPr>
          <a:xfrm>
            <a:off x="7013448" y="2103120"/>
            <a:ext cx="320040" cy="228600"/>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159752" y="1874519"/>
            <a:ext cx="1481328" cy="713232"/>
          </a:xfrm>
          <a:prstGeom prst="roundRect">
            <a:avLst/>
          </a:prstGeom>
          <a:solidFill>
            <a:srgbClr val="08232B"/>
          </a:solidFill>
          <a:ln w="1905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32904" y="1920239"/>
            <a:ext cx="1335024" cy="621792"/>
          </a:xfrm>
          <a:prstGeom prst="rect">
            <a:avLst/>
          </a:prstGeom>
          <a:noFill/>
        </p:spPr>
        <p:txBody>
          <a:bodyPr wrap="square" anchor="ctr">
            <a:spAutoFit/>
          </a:bodyPr>
          <a:lstStyle/>
          <a:p>
            <a:pPr algn="ctr"/>
            <a:r>
              <a:rPr sz="1500" b="1">
                <a:solidFill>
                  <a:srgbClr val="F5F7F7"/>
                </a:solidFill>
                <a:latin typeface="Aptos"/>
              </a:rPr>
              <a:t>MODEL TRAINING</a:t>
            </a:r>
          </a:p>
        </p:txBody>
      </p:sp>
      <p:sp>
        <p:nvSpPr>
          <p:cNvPr id="24" name="TextBox 23"/>
          <p:cNvSpPr txBox="1"/>
          <p:nvPr/>
        </p:nvSpPr>
        <p:spPr>
          <a:xfrm>
            <a:off x="7159752" y="2679192"/>
            <a:ext cx="1481328" cy="594360"/>
          </a:xfrm>
          <a:prstGeom prst="rect">
            <a:avLst/>
          </a:prstGeom>
          <a:noFill/>
        </p:spPr>
        <p:txBody>
          <a:bodyPr wrap="square" anchor="t">
            <a:spAutoFit/>
          </a:bodyPr>
          <a:lstStyle/>
          <a:p>
            <a:pPr algn="ctr"/>
            <a:r>
              <a:rPr sz="1150" b="0">
                <a:solidFill>
                  <a:srgbClr val="B8DADB"/>
                </a:solidFill>
                <a:latin typeface="Aptos"/>
              </a:rPr>
              <a:t>Logistic Regression + Random Forest</a:t>
            </a:r>
          </a:p>
        </p:txBody>
      </p:sp>
      <p:sp>
        <p:nvSpPr>
          <p:cNvPr id="25" name="Right Arrow 24"/>
          <p:cNvSpPr/>
          <p:nvPr/>
        </p:nvSpPr>
        <p:spPr>
          <a:xfrm>
            <a:off x="8677656" y="2103120"/>
            <a:ext cx="320040" cy="228600"/>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823960" y="1874519"/>
            <a:ext cx="1481328" cy="713232"/>
          </a:xfrm>
          <a:prstGeom prst="roundRect">
            <a:avLst/>
          </a:prstGeom>
          <a:solidFill>
            <a:srgbClr val="08232B"/>
          </a:solidFill>
          <a:ln w="1905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897112" y="1920239"/>
            <a:ext cx="1335024" cy="621792"/>
          </a:xfrm>
          <a:prstGeom prst="rect">
            <a:avLst/>
          </a:prstGeom>
          <a:noFill/>
        </p:spPr>
        <p:txBody>
          <a:bodyPr wrap="square" anchor="ctr">
            <a:spAutoFit/>
          </a:bodyPr>
          <a:lstStyle/>
          <a:p>
            <a:pPr algn="ctr"/>
            <a:r>
              <a:rPr sz="1500" b="1">
                <a:solidFill>
                  <a:srgbClr val="F5F7F7"/>
                </a:solidFill>
                <a:latin typeface="Aptos"/>
              </a:rPr>
              <a:t>EVALUATION</a:t>
            </a:r>
          </a:p>
        </p:txBody>
      </p:sp>
      <p:sp>
        <p:nvSpPr>
          <p:cNvPr id="28" name="TextBox 27"/>
          <p:cNvSpPr txBox="1"/>
          <p:nvPr/>
        </p:nvSpPr>
        <p:spPr>
          <a:xfrm>
            <a:off x="8823960" y="2679192"/>
            <a:ext cx="1481328" cy="594360"/>
          </a:xfrm>
          <a:prstGeom prst="rect">
            <a:avLst/>
          </a:prstGeom>
          <a:noFill/>
        </p:spPr>
        <p:txBody>
          <a:bodyPr wrap="square" anchor="t">
            <a:spAutoFit/>
          </a:bodyPr>
          <a:lstStyle/>
          <a:p>
            <a:pPr algn="ctr"/>
            <a:r>
              <a:rPr sz="1150" b="0">
                <a:solidFill>
                  <a:srgbClr val="B8DADB"/>
                </a:solidFill>
                <a:latin typeface="Aptos"/>
              </a:rPr>
              <a:t>Accuracy, precision, recall, F1</a:t>
            </a:r>
          </a:p>
        </p:txBody>
      </p:sp>
      <p:sp>
        <p:nvSpPr>
          <p:cNvPr id="29" name="Right Arrow 28"/>
          <p:cNvSpPr/>
          <p:nvPr/>
        </p:nvSpPr>
        <p:spPr>
          <a:xfrm>
            <a:off x="10341864" y="2103120"/>
            <a:ext cx="320040" cy="228600"/>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0488168" y="1874519"/>
            <a:ext cx="1481328" cy="713232"/>
          </a:xfrm>
          <a:prstGeom prst="roundRect">
            <a:avLst/>
          </a:prstGeom>
          <a:solidFill>
            <a:srgbClr val="08232B"/>
          </a:solidFill>
          <a:ln w="19050">
            <a:solidFill>
              <a:srgbClr val="CD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561320" y="1920239"/>
            <a:ext cx="1335024" cy="621792"/>
          </a:xfrm>
          <a:prstGeom prst="rect">
            <a:avLst/>
          </a:prstGeom>
          <a:noFill/>
        </p:spPr>
        <p:txBody>
          <a:bodyPr wrap="square" anchor="ctr">
            <a:spAutoFit/>
          </a:bodyPr>
          <a:lstStyle/>
          <a:p>
            <a:pPr algn="ctr"/>
            <a:r>
              <a:rPr sz="1500" b="1">
                <a:solidFill>
                  <a:srgbClr val="F5F7F7"/>
                </a:solidFill>
                <a:latin typeface="Aptos"/>
              </a:rPr>
              <a:t>DASHBOARD</a:t>
            </a:r>
          </a:p>
        </p:txBody>
      </p:sp>
      <p:sp>
        <p:nvSpPr>
          <p:cNvPr id="32" name="TextBox 31"/>
          <p:cNvSpPr txBox="1"/>
          <p:nvPr/>
        </p:nvSpPr>
        <p:spPr>
          <a:xfrm>
            <a:off x="10488168" y="2679192"/>
            <a:ext cx="1481328" cy="594360"/>
          </a:xfrm>
          <a:prstGeom prst="rect">
            <a:avLst/>
          </a:prstGeom>
          <a:noFill/>
        </p:spPr>
        <p:txBody>
          <a:bodyPr wrap="square" anchor="t">
            <a:spAutoFit/>
          </a:bodyPr>
          <a:lstStyle/>
          <a:p>
            <a:pPr algn="ctr"/>
            <a:r>
              <a:rPr sz="1150" b="0">
                <a:solidFill>
                  <a:srgbClr val="B8DADB"/>
                </a:solidFill>
                <a:latin typeface="Aptos"/>
              </a:rPr>
              <a:t>Show insights and risk groups</a:t>
            </a:r>
          </a:p>
        </p:txBody>
      </p:sp>
      <p:sp>
        <p:nvSpPr>
          <p:cNvPr id="33" name="TextBox 32"/>
          <p:cNvSpPr txBox="1"/>
          <p:nvPr/>
        </p:nvSpPr>
        <p:spPr>
          <a:xfrm>
            <a:off x="2377440" y="3977639"/>
            <a:ext cx="7498079" cy="457200"/>
          </a:xfrm>
          <a:prstGeom prst="rect">
            <a:avLst/>
          </a:prstGeom>
          <a:noFill/>
        </p:spPr>
        <p:txBody>
          <a:bodyPr wrap="square" anchor="t">
            <a:spAutoFit/>
          </a:bodyPr>
          <a:lstStyle/>
          <a:p>
            <a:pPr algn="ctr"/>
            <a:r>
              <a:rPr sz="2300" b="1">
                <a:solidFill>
                  <a:srgbClr val="F5F7F7"/>
                </a:solidFill>
                <a:latin typeface="Aptos"/>
              </a:rPr>
              <a:t>Input → Analysis → Prediction → Visualization</a:t>
            </a:r>
          </a:p>
        </p:txBody>
      </p:sp>
      <p:sp>
        <p:nvSpPr>
          <p:cNvPr id="34" name="Rounded Rectangle 33"/>
          <p:cNvSpPr/>
          <p:nvPr/>
        </p:nvSpPr>
        <p:spPr>
          <a:xfrm>
            <a:off x="1143000" y="4709160"/>
            <a:ext cx="9875520" cy="914400"/>
          </a:xfrm>
          <a:prstGeom prst="roundRect">
            <a:avLst/>
          </a:prstGeom>
          <a:solidFill>
            <a:srgbClr val="08232B"/>
          </a:solidFill>
          <a:ln w="16510">
            <a:solidFill>
              <a:srgbClr val="CD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307592" y="4846320"/>
            <a:ext cx="9546336" cy="384048"/>
          </a:xfrm>
          <a:prstGeom prst="rect">
            <a:avLst/>
          </a:prstGeom>
          <a:noFill/>
        </p:spPr>
        <p:txBody>
          <a:bodyPr wrap="square" anchor="t">
            <a:spAutoFit/>
          </a:bodyPr>
          <a:lstStyle/>
          <a:p>
            <a:pPr algn="l"/>
            <a:r>
              <a:rPr sz="1800" b="1">
                <a:solidFill>
                  <a:srgbClr val="CD1818"/>
                </a:solidFill>
                <a:latin typeface="Aptos"/>
              </a:rPr>
              <a:t>MAIN INPUTS</a:t>
            </a:r>
          </a:p>
        </p:txBody>
      </p:sp>
      <p:sp>
        <p:nvSpPr>
          <p:cNvPr id="36" name="TextBox 35"/>
          <p:cNvSpPr txBox="1"/>
          <p:nvPr/>
        </p:nvSpPr>
        <p:spPr>
          <a:xfrm>
            <a:off x="1307592" y="5303520"/>
            <a:ext cx="9546336" cy="201167"/>
          </a:xfrm>
          <a:prstGeom prst="rect">
            <a:avLst/>
          </a:prstGeom>
          <a:noFill/>
        </p:spPr>
        <p:txBody>
          <a:bodyPr wrap="square" anchor="t">
            <a:spAutoFit/>
          </a:bodyPr>
          <a:lstStyle/>
          <a:p>
            <a:pPr algn="l"/>
            <a:r>
              <a:rPr sz="1450" b="0">
                <a:solidFill>
                  <a:srgbClr val="B8DADB"/>
                </a:solidFill>
                <a:latin typeface="Aptos"/>
              </a:rPr>
              <a:t>Attendance %  •  Internal marks  •  Assignment completion  •  Previous GPA/score  •  Backlogs  •  Participation</a:t>
            </a:r>
          </a:p>
        </p:txBody>
      </p:sp>
      <p:sp>
        <p:nvSpPr>
          <p:cNvPr id="37" name="TextBox 36"/>
          <p:cNvSpPr txBox="1"/>
          <p:nvPr/>
        </p:nvSpPr>
        <p:spPr>
          <a:xfrm>
            <a:off x="10927080" y="6419088"/>
            <a:ext cx="411480" cy="228600"/>
          </a:xfrm>
          <a:prstGeom prst="rect">
            <a:avLst/>
          </a:prstGeom>
          <a:noFill/>
        </p:spPr>
        <p:txBody>
          <a:bodyPr wrap="square" anchor="t">
            <a:spAutoFit/>
          </a:bodyPr>
          <a:lstStyle/>
          <a:p>
            <a:pPr algn="r"/>
            <a:r>
              <a:rPr sz="1000" b="1">
                <a:solidFill>
                  <a:srgbClr val="89DAE0"/>
                </a:solidFill>
                <a:latin typeface="Aptos"/>
              </a:rPr>
              <a:t>08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 y="182880"/>
            <a:ext cx="11521440" cy="6400800"/>
          </a:xfrm>
          <a:prstGeom prst="rect">
            <a:avLst/>
          </a:prstGeom>
          <a:solidFill>
            <a:srgbClr val="0F4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61320" y="0"/>
            <a:ext cx="685800" cy="914400"/>
          </a:xfrm>
          <a:prstGeom prst="rect">
            <a:avLst/>
          </a:prstGeom>
          <a:solidFill>
            <a:srgbClr val="CD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411480"/>
            <a:ext cx="9418320" cy="594360"/>
          </a:xfrm>
          <a:prstGeom prst="rect">
            <a:avLst/>
          </a:prstGeom>
          <a:noFill/>
        </p:spPr>
        <p:txBody>
          <a:bodyPr wrap="square" anchor="t">
            <a:spAutoFit/>
          </a:bodyPr>
          <a:lstStyle/>
          <a:p>
            <a:pPr algn="l"/>
            <a:r>
              <a:rPr sz="2800" b="1">
                <a:solidFill>
                  <a:srgbClr val="F5F7F7"/>
                </a:solidFill>
                <a:latin typeface="Aptos"/>
              </a:rPr>
              <a:t>Data &amp; Feature Design</a:t>
            </a:r>
          </a:p>
        </p:txBody>
      </p:sp>
      <p:sp>
        <p:nvSpPr>
          <p:cNvPr id="6" name="TextBox 5"/>
          <p:cNvSpPr txBox="1"/>
          <p:nvPr/>
        </p:nvSpPr>
        <p:spPr>
          <a:xfrm>
            <a:off x="868680" y="1143000"/>
            <a:ext cx="10149840" cy="502920"/>
          </a:xfrm>
          <a:prstGeom prst="rect">
            <a:avLst/>
          </a:prstGeom>
          <a:noFill/>
        </p:spPr>
        <p:txBody>
          <a:bodyPr wrap="square" anchor="t">
            <a:spAutoFit/>
          </a:bodyPr>
          <a:lstStyle/>
          <a:p>
            <a:pPr algn="l"/>
            <a:r>
              <a:rPr sz="1800" b="0">
                <a:solidFill>
                  <a:srgbClr val="B8DADB"/>
                </a:solidFill>
                <a:latin typeface="Aptos"/>
              </a:rPr>
              <a:t>A simple prototype dataset can contain one row per student and one column per academic indicator.</a:t>
            </a:r>
          </a:p>
        </p:txBody>
      </p:sp>
      <p:sp>
        <p:nvSpPr>
          <p:cNvPr id="7" name="Rounded Rectangle 6"/>
          <p:cNvSpPr/>
          <p:nvPr/>
        </p:nvSpPr>
        <p:spPr>
          <a:xfrm>
            <a:off x="685800" y="1874519"/>
            <a:ext cx="3474720" cy="132588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2011679"/>
            <a:ext cx="3145536" cy="384048"/>
          </a:xfrm>
          <a:prstGeom prst="rect">
            <a:avLst/>
          </a:prstGeom>
          <a:noFill/>
        </p:spPr>
        <p:txBody>
          <a:bodyPr wrap="square" anchor="t">
            <a:spAutoFit/>
          </a:bodyPr>
          <a:lstStyle/>
          <a:p>
            <a:pPr algn="l"/>
            <a:r>
              <a:rPr sz="1800" b="1">
                <a:solidFill>
                  <a:srgbClr val="89DAE0"/>
                </a:solidFill>
                <a:latin typeface="Aptos"/>
              </a:rPr>
              <a:t>Attendance</a:t>
            </a:r>
          </a:p>
        </p:txBody>
      </p:sp>
      <p:sp>
        <p:nvSpPr>
          <p:cNvPr id="9" name="TextBox 8"/>
          <p:cNvSpPr txBox="1"/>
          <p:nvPr/>
        </p:nvSpPr>
        <p:spPr>
          <a:xfrm>
            <a:off x="850392" y="2468879"/>
            <a:ext cx="3145536" cy="612647"/>
          </a:xfrm>
          <a:prstGeom prst="rect">
            <a:avLst/>
          </a:prstGeom>
          <a:noFill/>
        </p:spPr>
        <p:txBody>
          <a:bodyPr wrap="square" anchor="t">
            <a:spAutoFit/>
          </a:bodyPr>
          <a:lstStyle/>
          <a:p>
            <a:pPr algn="l"/>
            <a:r>
              <a:rPr sz="1450" b="0">
                <a:solidFill>
                  <a:srgbClr val="B8DADB"/>
                </a:solidFill>
                <a:latin typeface="Aptos"/>
              </a:rPr>
              <a:t>Percentage of classes attended</a:t>
            </a:r>
          </a:p>
        </p:txBody>
      </p:sp>
      <p:sp>
        <p:nvSpPr>
          <p:cNvPr id="10" name="Rounded Rectangle 9"/>
          <p:cNvSpPr/>
          <p:nvPr/>
        </p:nvSpPr>
        <p:spPr>
          <a:xfrm>
            <a:off x="4480560" y="1874519"/>
            <a:ext cx="3474720" cy="1325880"/>
          </a:xfrm>
          <a:prstGeom prst="roundRect">
            <a:avLst/>
          </a:prstGeom>
          <a:solidFill>
            <a:srgbClr val="08232B"/>
          </a:solidFill>
          <a:ln w="16510">
            <a:solidFill>
              <a:srgbClr val="CD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45152" y="2011679"/>
            <a:ext cx="3145536" cy="384048"/>
          </a:xfrm>
          <a:prstGeom prst="rect">
            <a:avLst/>
          </a:prstGeom>
          <a:noFill/>
        </p:spPr>
        <p:txBody>
          <a:bodyPr wrap="square" anchor="t">
            <a:spAutoFit/>
          </a:bodyPr>
          <a:lstStyle/>
          <a:p>
            <a:pPr algn="l"/>
            <a:r>
              <a:rPr sz="1800" b="1">
                <a:solidFill>
                  <a:srgbClr val="CD1818"/>
                </a:solidFill>
                <a:latin typeface="Aptos"/>
              </a:rPr>
              <a:t>Internal Marks</a:t>
            </a:r>
          </a:p>
        </p:txBody>
      </p:sp>
      <p:sp>
        <p:nvSpPr>
          <p:cNvPr id="12" name="TextBox 11"/>
          <p:cNvSpPr txBox="1"/>
          <p:nvPr/>
        </p:nvSpPr>
        <p:spPr>
          <a:xfrm>
            <a:off x="4645152" y="2468879"/>
            <a:ext cx="3145536" cy="612647"/>
          </a:xfrm>
          <a:prstGeom prst="rect">
            <a:avLst/>
          </a:prstGeom>
          <a:noFill/>
        </p:spPr>
        <p:txBody>
          <a:bodyPr wrap="square" anchor="t">
            <a:spAutoFit/>
          </a:bodyPr>
          <a:lstStyle/>
          <a:p>
            <a:pPr algn="l"/>
            <a:r>
              <a:rPr sz="1450" b="0">
                <a:solidFill>
                  <a:srgbClr val="B8DADB"/>
                </a:solidFill>
                <a:latin typeface="Aptos"/>
              </a:rPr>
              <a:t>Assessment performance</a:t>
            </a:r>
          </a:p>
        </p:txBody>
      </p:sp>
      <p:sp>
        <p:nvSpPr>
          <p:cNvPr id="13" name="Rounded Rectangle 12"/>
          <p:cNvSpPr/>
          <p:nvPr/>
        </p:nvSpPr>
        <p:spPr>
          <a:xfrm>
            <a:off x="8275320" y="1874519"/>
            <a:ext cx="3474720" cy="132588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39912" y="2011679"/>
            <a:ext cx="3145536" cy="384048"/>
          </a:xfrm>
          <a:prstGeom prst="rect">
            <a:avLst/>
          </a:prstGeom>
          <a:noFill/>
        </p:spPr>
        <p:txBody>
          <a:bodyPr wrap="square" anchor="t">
            <a:spAutoFit/>
          </a:bodyPr>
          <a:lstStyle/>
          <a:p>
            <a:pPr algn="l"/>
            <a:r>
              <a:rPr sz="1800" b="1">
                <a:solidFill>
                  <a:srgbClr val="89DAE0"/>
                </a:solidFill>
                <a:latin typeface="Aptos"/>
              </a:rPr>
              <a:t>Assignments</a:t>
            </a:r>
          </a:p>
        </p:txBody>
      </p:sp>
      <p:sp>
        <p:nvSpPr>
          <p:cNvPr id="15" name="TextBox 14"/>
          <p:cNvSpPr txBox="1"/>
          <p:nvPr/>
        </p:nvSpPr>
        <p:spPr>
          <a:xfrm>
            <a:off x="8439912" y="2468879"/>
            <a:ext cx="3145536" cy="612647"/>
          </a:xfrm>
          <a:prstGeom prst="rect">
            <a:avLst/>
          </a:prstGeom>
          <a:noFill/>
        </p:spPr>
        <p:txBody>
          <a:bodyPr wrap="square" anchor="t">
            <a:spAutoFit/>
          </a:bodyPr>
          <a:lstStyle/>
          <a:p>
            <a:pPr algn="l"/>
            <a:r>
              <a:rPr sz="1450" b="0">
                <a:solidFill>
                  <a:srgbClr val="B8DADB"/>
                </a:solidFill>
                <a:latin typeface="Aptos"/>
              </a:rPr>
              <a:t>Completion / submission level</a:t>
            </a:r>
          </a:p>
        </p:txBody>
      </p:sp>
      <p:sp>
        <p:nvSpPr>
          <p:cNvPr id="16" name="Rounded Rectangle 15"/>
          <p:cNvSpPr/>
          <p:nvPr/>
        </p:nvSpPr>
        <p:spPr>
          <a:xfrm>
            <a:off x="685800" y="3566160"/>
            <a:ext cx="3474720" cy="1325880"/>
          </a:xfrm>
          <a:prstGeom prst="roundRect">
            <a:avLst/>
          </a:prstGeom>
          <a:solidFill>
            <a:srgbClr val="08232B"/>
          </a:solidFill>
          <a:ln w="16510">
            <a:solidFill>
              <a:srgbClr val="CD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2" y="3703320"/>
            <a:ext cx="3145536" cy="384048"/>
          </a:xfrm>
          <a:prstGeom prst="rect">
            <a:avLst/>
          </a:prstGeom>
          <a:noFill/>
        </p:spPr>
        <p:txBody>
          <a:bodyPr wrap="square" anchor="t">
            <a:spAutoFit/>
          </a:bodyPr>
          <a:lstStyle/>
          <a:p>
            <a:pPr algn="l"/>
            <a:r>
              <a:rPr sz="1800" b="1">
                <a:solidFill>
                  <a:srgbClr val="CD1818"/>
                </a:solidFill>
                <a:latin typeface="Aptos"/>
              </a:rPr>
              <a:t>Previous Score</a:t>
            </a:r>
          </a:p>
        </p:txBody>
      </p:sp>
      <p:sp>
        <p:nvSpPr>
          <p:cNvPr id="18" name="TextBox 17"/>
          <p:cNvSpPr txBox="1"/>
          <p:nvPr/>
        </p:nvSpPr>
        <p:spPr>
          <a:xfrm>
            <a:off x="850392" y="4160520"/>
            <a:ext cx="3145536" cy="612647"/>
          </a:xfrm>
          <a:prstGeom prst="rect">
            <a:avLst/>
          </a:prstGeom>
          <a:noFill/>
        </p:spPr>
        <p:txBody>
          <a:bodyPr wrap="square" anchor="t">
            <a:spAutoFit/>
          </a:bodyPr>
          <a:lstStyle/>
          <a:p>
            <a:pPr algn="l"/>
            <a:r>
              <a:rPr sz="1450" b="0">
                <a:solidFill>
                  <a:srgbClr val="B8DADB"/>
                </a:solidFill>
                <a:latin typeface="Aptos"/>
              </a:rPr>
              <a:t>Earlier semester performance</a:t>
            </a:r>
          </a:p>
        </p:txBody>
      </p:sp>
      <p:sp>
        <p:nvSpPr>
          <p:cNvPr id="19" name="Rounded Rectangle 18"/>
          <p:cNvSpPr/>
          <p:nvPr/>
        </p:nvSpPr>
        <p:spPr>
          <a:xfrm>
            <a:off x="4480560" y="3566160"/>
            <a:ext cx="3474720" cy="132588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45152" y="3703320"/>
            <a:ext cx="3145536" cy="384048"/>
          </a:xfrm>
          <a:prstGeom prst="rect">
            <a:avLst/>
          </a:prstGeom>
          <a:noFill/>
        </p:spPr>
        <p:txBody>
          <a:bodyPr wrap="square" anchor="t">
            <a:spAutoFit/>
          </a:bodyPr>
          <a:lstStyle/>
          <a:p>
            <a:pPr algn="l"/>
            <a:r>
              <a:rPr sz="1800" b="1">
                <a:solidFill>
                  <a:srgbClr val="89DAE0"/>
                </a:solidFill>
                <a:latin typeface="Aptos"/>
              </a:rPr>
              <a:t>Backlogs</a:t>
            </a:r>
          </a:p>
        </p:txBody>
      </p:sp>
      <p:sp>
        <p:nvSpPr>
          <p:cNvPr id="21" name="TextBox 20"/>
          <p:cNvSpPr txBox="1"/>
          <p:nvPr/>
        </p:nvSpPr>
        <p:spPr>
          <a:xfrm>
            <a:off x="4645152" y="4160520"/>
            <a:ext cx="3145536" cy="612647"/>
          </a:xfrm>
          <a:prstGeom prst="rect">
            <a:avLst/>
          </a:prstGeom>
          <a:noFill/>
        </p:spPr>
        <p:txBody>
          <a:bodyPr wrap="square" anchor="t">
            <a:spAutoFit/>
          </a:bodyPr>
          <a:lstStyle/>
          <a:p>
            <a:pPr algn="l"/>
            <a:r>
              <a:rPr sz="1450" b="0">
                <a:solidFill>
                  <a:srgbClr val="B8DADB"/>
                </a:solidFill>
                <a:latin typeface="Aptos"/>
              </a:rPr>
              <a:t>Number of pending subjects</a:t>
            </a:r>
          </a:p>
        </p:txBody>
      </p:sp>
      <p:sp>
        <p:nvSpPr>
          <p:cNvPr id="22" name="Rounded Rectangle 21"/>
          <p:cNvSpPr/>
          <p:nvPr/>
        </p:nvSpPr>
        <p:spPr>
          <a:xfrm>
            <a:off x="8275320" y="3566160"/>
            <a:ext cx="3474720" cy="1325880"/>
          </a:xfrm>
          <a:prstGeom prst="roundRect">
            <a:avLst/>
          </a:prstGeom>
          <a:solidFill>
            <a:srgbClr val="08232B"/>
          </a:solidFill>
          <a:ln w="16510">
            <a:solidFill>
              <a:srgbClr val="CD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39912" y="3703320"/>
            <a:ext cx="3145536" cy="384048"/>
          </a:xfrm>
          <a:prstGeom prst="rect">
            <a:avLst/>
          </a:prstGeom>
          <a:noFill/>
        </p:spPr>
        <p:txBody>
          <a:bodyPr wrap="square" anchor="t">
            <a:spAutoFit/>
          </a:bodyPr>
          <a:lstStyle/>
          <a:p>
            <a:pPr algn="l"/>
            <a:r>
              <a:rPr sz="1800" b="1">
                <a:solidFill>
                  <a:srgbClr val="CD1818"/>
                </a:solidFill>
                <a:latin typeface="Aptos"/>
              </a:rPr>
              <a:t>Participation</a:t>
            </a:r>
          </a:p>
        </p:txBody>
      </p:sp>
      <p:sp>
        <p:nvSpPr>
          <p:cNvPr id="24" name="TextBox 23"/>
          <p:cNvSpPr txBox="1"/>
          <p:nvPr/>
        </p:nvSpPr>
        <p:spPr>
          <a:xfrm>
            <a:off x="8439912" y="4160520"/>
            <a:ext cx="3145536" cy="612647"/>
          </a:xfrm>
          <a:prstGeom prst="rect">
            <a:avLst/>
          </a:prstGeom>
          <a:noFill/>
        </p:spPr>
        <p:txBody>
          <a:bodyPr wrap="square" anchor="t">
            <a:spAutoFit/>
          </a:bodyPr>
          <a:lstStyle/>
          <a:p>
            <a:pPr algn="l"/>
            <a:r>
              <a:rPr sz="1450" b="0">
                <a:solidFill>
                  <a:srgbClr val="B8DADB"/>
                </a:solidFill>
                <a:latin typeface="Aptos"/>
              </a:rPr>
              <a:t>Academic engagement indicator</a:t>
            </a:r>
          </a:p>
        </p:txBody>
      </p:sp>
      <p:sp>
        <p:nvSpPr>
          <p:cNvPr id="25" name="TextBox 24"/>
          <p:cNvSpPr txBox="1"/>
          <p:nvPr/>
        </p:nvSpPr>
        <p:spPr>
          <a:xfrm>
            <a:off x="914400" y="5486400"/>
            <a:ext cx="9966960" cy="411480"/>
          </a:xfrm>
          <a:prstGeom prst="rect">
            <a:avLst/>
          </a:prstGeom>
          <a:noFill/>
        </p:spPr>
        <p:txBody>
          <a:bodyPr wrap="square" anchor="t">
            <a:spAutoFit/>
          </a:bodyPr>
          <a:lstStyle/>
          <a:p>
            <a:pPr algn="ctr"/>
            <a:r>
              <a:rPr sz="2000" b="1">
                <a:solidFill>
                  <a:srgbClr val="F5F7F7"/>
                </a:solidFill>
                <a:latin typeface="Aptos"/>
              </a:rPr>
              <a:t>Target example: Dropout Risk = At Risk / Not At Risk</a:t>
            </a:r>
          </a:p>
        </p:txBody>
      </p:sp>
      <p:sp>
        <p:nvSpPr>
          <p:cNvPr id="26" name="TextBox 25"/>
          <p:cNvSpPr txBox="1"/>
          <p:nvPr/>
        </p:nvSpPr>
        <p:spPr>
          <a:xfrm>
            <a:off x="10927080" y="6419088"/>
            <a:ext cx="411480" cy="228600"/>
          </a:xfrm>
          <a:prstGeom prst="rect">
            <a:avLst/>
          </a:prstGeom>
          <a:noFill/>
        </p:spPr>
        <p:txBody>
          <a:bodyPr wrap="square" anchor="t">
            <a:spAutoFit/>
          </a:bodyPr>
          <a:lstStyle/>
          <a:p>
            <a:pPr algn="r"/>
            <a:r>
              <a:rPr sz="1000" b="1">
                <a:solidFill>
                  <a:srgbClr val="89DAE0"/>
                </a:solidFill>
                <a:latin typeface="Aptos"/>
              </a:rPr>
              <a:t>09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 y="182880"/>
            <a:ext cx="11521440" cy="6400800"/>
          </a:xfrm>
          <a:prstGeom prst="rect">
            <a:avLst/>
          </a:prstGeom>
          <a:solidFill>
            <a:srgbClr val="0F4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61320" y="0"/>
            <a:ext cx="685800" cy="914400"/>
          </a:xfrm>
          <a:prstGeom prst="rect">
            <a:avLst/>
          </a:prstGeom>
          <a:solidFill>
            <a:srgbClr val="CD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411480"/>
            <a:ext cx="9418320" cy="594360"/>
          </a:xfrm>
          <a:prstGeom prst="rect">
            <a:avLst/>
          </a:prstGeom>
          <a:noFill/>
        </p:spPr>
        <p:txBody>
          <a:bodyPr wrap="square" anchor="t">
            <a:spAutoFit/>
          </a:bodyPr>
          <a:lstStyle/>
          <a:p>
            <a:pPr algn="l"/>
            <a:r>
              <a:rPr sz="2800" b="1">
                <a:solidFill>
                  <a:srgbClr val="F5F7F7"/>
                </a:solidFill>
                <a:latin typeface="Aptos"/>
              </a:rPr>
              <a:t>Logistic Regression</a:t>
            </a:r>
          </a:p>
        </p:txBody>
      </p:sp>
      <p:sp>
        <p:nvSpPr>
          <p:cNvPr id="6" name="TextBox 5"/>
          <p:cNvSpPr txBox="1"/>
          <p:nvPr/>
        </p:nvSpPr>
        <p:spPr>
          <a:xfrm>
            <a:off x="868680" y="1143000"/>
            <a:ext cx="10149840" cy="731520"/>
          </a:xfrm>
          <a:prstGeom prst="rect">
            <a:avLst/>
          </a:prstGeom>
          <a:noFill/>
        </p:spPr>
        <p:txBody>
          <a:bodyPr wrap="square" anchor="t">
            <a:spAutoFit/>
          </a:bodyPr>
          <a:lstStyle/>
          <a:p>
            <a:pPr algn="l"/>
            <a:r>
              <a:rPr sz="1900" b="0">
                <a:solidFill>
                  <a:srgbClr val="B8DADB"/>
                </a:solidFill>
                <a:latin typeface="Aptos"/>
              </a:rPr>
              <a:t>A simple classification model that estimates the probability of a student belonging to the selected risk class.</a:t>
            </a:r>
          </a:p>
        </p:txBody>
      </p:sp>
      <p:sp>
        <p:nvSpPr>
          <p:cNvPr id="7" name="Rounded Rectangle 6"/>
          <p:cNvSpPr/>
          <p:nvPr/>
        </p:nvSpPr>
        <p:spPr>
          <a:xfrm>
            <a:off x="777240" y="2057400"/>
            <a:ext cx="2148840" cy="242316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2194560"/>
            <a:ext cx="1819656" cy="384048"/>
          </a:xfrm>
          <a:prstGeom prst="rect">
            <a:avLst/>
          </a:prstGeom>
          <a:noFill/>
        </p:spPr>
        <p:txBody>
          <a:bodyPr wrap="square" anchor="t">
            <a:spAutoFit/>
          </a:bodyPr>
          <a:lstStyle/>
          <a:p>
            <a:pPr algn="l"/>
            <a:r>
              <a:rPr sz="1800" b="1">
                <a:solidFill>
                  <a:srgbClr val="89DAE0"/>
                </a:solidFill>
                <a:latin typeface="Aptos"/>
              </a:rPr>
              <a:t>INPUT</a:t>
            </a:r>
          </a:p>
        </p:txBody>
      </p:sp>
      <p:sp>
        <p:nvSpPr>
          <p:cNvPr id="9" name="TextBox 8"/>
          <p:cNvSpPr txBox="1"/>
          <p:nvPr/>
        </p:nvSpPr>
        <p:spPr>
          <a:xfrm>
            <a:off x="941832" y="2651760"/>
            <a:ext cx="1819656" cy="1709928"/>
          </a:xfrm>
          <a:prstGeom prst="rect">
            <a:avLst/>
          </a:prstGeom>
          <a:noFill/>
        </p:spPr>
        <p:txBody>
          <a:bodyPr wrap="square" anchor="t">
            <a:spAutoFit/>
          </a:bodyPr>
          <a:lstStyle/>
          <a:p>
            <a:pPr algn="l"/>
            <a:r>
              <a:rPr sz="1450" b="0">
                <a:solidFill>
                  <a:srgbClr val="B8DADB"/>
                </a:solidFill>
                <a:latin typeface="Aptos"/>
              </a:rPr>
              <a:t>Attendance
Marks
Assignments
Previous score
Backlogs</a:t>
            </a:r>
          </a:p>
        </p:txBody>
      </p:sp>
      <p:sp>
        <p:nvSpPr>
          <p:cNvPr id="10" name="Right Arrow 9"/>
          <p:cNvSpPr/>
          <p:nvPr/>
        </p:nvSpPr>
        <p:spPr>
          <a:xfrm>
            <a:off x="3063240" y="3063240"/>
            <a:ext cx="502920" cy="320040"/>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57600" y="2057400"/>
            <a:ext cx="2926080" cy="242316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22191" y="2194560"/>
            <a:ext cx="2596896" cy="384048"/>
          </a:xfrm>
          <a:prstGeom prst="rect">
            <a:avLst/>
          </a:prstGeom>
          <a:noFill/>
        </p:spPr>
        <p:txBody>
          <a:bodyPr wrap="square" anchor="t">
            <a:spAutoFit/>
          </a:bodyPr>
          <a:lstStyle/>
          <a:p>
            <a:pPr algn="l"/>
            <a:r>
              <a:rPr sz="1800" b="1">
                <a:solidFill>
                  <a:srgbClr val="89DAE0"/>
                </a:solidFill>
                <a:latin typeface="Aptos"/>
              </a:rPr>
              <a:t>MODEL</a:t>
            </a:r>
          </a:p>
        </p:txBody>
      </p:sp>
      <p:sp>
        <p:nvSpPr>
          <p:cNvPr id="13" name="TextBox 12"/>
          <p:cNvSpPr txBox="1"/>
          <p:nvPr/>
        </p:nvSpPr>
        <p:spPr>
          <a:xfrm>
            <a:off x="3822191" y="2651760"/>
            <a:ext cx="2596896" cy="1709928"/>
          </a:xfrm>
          <a:prstGeom prst="rect">
            <a:avLst/>
          </a:prstGeom>
          <a:noFill/>
        </p:spPr>
        <p:txBody>
          <a:bodyPr wrap="square" anchor="t">
            <a:spAutoFit/>
          </a:bodyPr>
          <a:lstStyle/>
          <a:p>
            <a:pPr algn="l"/>
            <a:r>
              <a:rPr sz="1450" b="0">
                <a:solidFill>
                  <a:srgbClr val="B8DADB"/>
                </a:solidFill>
                <a:latin typeface="Aptos"/>
              </a:rPr>
              <a:t>Weighted combination of features → probability → class</a:t>
            </a:r>
          </a:p>
        </p:txBody>
      </p:sp>
      <p:sp>
        <p:nvSpPr>
          <p:cNvPr id="14" name="Right Arrow 13"/>
          <p:cNvSpPr/>
          <p:nvPr/>
        </p:nvSpPr>
        <p:spPr>
          <a:xfrm>
            <a:off x="6858000" y="3063240"/>
            <a:ext cx="502920" cy="320040"/>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452360" y="2057400"/>
            <a:ext cx="2148840" cy="2423160"/>
          </a:xfrm>
          <a:prstGeom prst="roundRect">
            <a:avLst/>
          </a:prstGeom>
          <a:solidFill>
            <a:srgbClr val="08232B"/>
          </a:solidFill>
          <a:ln w="16510">
            <a:solidFill>
              <a:srgbClr val="CD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16952" y="2194560"/>
            <a:ext cx="1819656" cy="384048"/>
          </a:xfrm>
          <a:prstGeom prst="rect">
            <a:avLst/>
          </a:prstGeom>
          <a:noFill/>
        </p:spPr>
        <p:txBody>
          <a:bodyPr wrap="square" anchor="t">
            <a:spAutoFit/>
          </a:bodyPr>
          <a:lstStyle/>
          <a:p>
            <a:pPr algn="l"/>
            <a:r>
              <a:rPr sz="1800" b="1">
                <a:solidFill>
                  <a:srgbClr val="CD1818"/>
                </a:solidFill>
                <a:latin typeface="Aptos"/>
              </a:rPr>
              <a:t>OUTPUT</a:t>
            </a:r>
          </a:p>
        </p:txBody>
      </p:sp>
      <p:sp>
        <p:nvSpPr>
          <p:cNvPr id="17" name="TextBox 16"/>
          <p:cNvSpPr txBox="1"/>
          <p:nvPr/>
        </p:nvSpPr>
        <p:spPr>
          <a:xfrm>
            <a:off x="7616952" y="2651760"/>
            <a:ext cx="1819656" cy="1709928"/>
          </a:xfrm>
          <a:prstGeom prst="rect">
            <a:avLst/>
          </a:prstGeom>
          <a:noFill/>
        </p:spPr>
        <p:txBody>
          <a:bodyPr wrap="square" anchor="t">
            <a:spAutoFit/>
          </a:bodyPr>
          <a:lstStyle/>
          <a:p>
            <a:pPr algn="l"/>
            <a:r>
              <a:rPr sz="1450" b="0">
                <a:solidFill>
                  <a:srgbClr val="B8DADB"/>
                </a:solidFill>
                <a:latin typeface="Aptos"/>
              </a:rPr>
              <a:t>At Risk
or
Not At Risk</a:t>
            </a:r>
          </a:p>
        </p:txBody>
      </p:sp>
      <p:sp>
        <p:nvSpPr>
          <p:cNvPr id="18" name="TextBox 17"/>
          <p:cNvSpPr txBox="1"/>
          <p:nvPr/>
        </p:nvSpPr>
        <p:spPr>
          <a:xfrm>
            <a:off x="914400" y="5166360"/>
            <a:ext cx="10058400" cy="502920"/>
          </a:xfrm>
          <a:prstGeom prst="rect">
            <a:avLst/>
          </a:prstGeom>
          <a:noFill/>
        </p:spPr>
        <p:txBody>
          <a:bodyPr wrap="square" anchor="t">
            <a:spAutoFit/>
          </a:bodyPr>
          <a:lstStyle/>
          <a:p>
            <a:pPr algn="l"/>
            <a:r>
              <a:rPr sz="1700" b="1">
                <a:solidFill>
                  <a:srgbClr val="B8DADB"/>
                </a:solidFill>
                <a:latin typeface="Aptos"/>
              </a:rPr>
              <a:t>Strength: simple and easy to explain.  |  Limitation: may not capture complex feature interactions.</a:t>
            </a:r>
          </a:p>
        </p:txBody>
      </p:sp>
      <p:sp>
        <p:nvSpPr>
          <p:cNvPr id="19" name="TextBox 18"/>
          <p:cNvSpPr txBox="1"/>
          <p:nvPr/>
        </p:nvSpPr>
        <p:spPr>
          <a:xfrm>
            <a:off x="10927080" y="6419088"/>
            <a:ext cx="411480" cy="228600"/>
          </a:xfrm>
          <a:prstGeom prst="rect">
            <a:avLst/>
          </a:prstGeom>
          <a:noFill/>
        </p:spPr>
        <p:txBody>
          <a:bodyPr wrap="square" anchor="t">
            <a:spAutoFit/>
          </a:bodyPr>
          <a:lstStyle/>
          <a:p>
            <a:pPr algn="r"/>
            <a:r>
              <a:rPr sz="1000" b="1">
                <a:solidFill>
                  <a:srgbClr val="89DAE0"/>
                </a:solidFill>
                <a:latin typeface="Aptos"/>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 y="182880"/>
            <a:ext cx="11521440" cy="6400800"/>
          </a:xfrm>
          <a:prstGeom prst="rect">
            <a:avLst/>
          </a:prstGeom>
          <a:solidFill>
            <a:srgbClr val="0F4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61320" y="0"/>
            <a:ext cx="685800" cy="914400"/>
          </a:xfrm>
          <a:prstGeom prst="rect">
            <a:avLst/>
          </a:prstGeom>
          <a:solidFill>
            <a:srgbClr val="CD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411480"/>
            <a:ext cx="9418320" cy="594360"/>
          </a:xfrm>
          <a:prstGeom prst="rect">
            <a:avLst/>
          </a:prstGeom>
          <a:noFill/>
        </p:spPr>
        <p:txBody>
          <a:bodyPr wrap="square" anchor="t">
            <a:spAutoFit/>
          </a:bodyPr>
          <a:lstStyle/>
          <a:p>
            <a:pPr algn="l"/>
            <a:r>
              <a:rPr sz="2800" b="1">
                <a:solidFill>
                  <a:srgbClr val="F5F7F7"/>
                </a:solidFill>
                <a:latin typeface="Aptos"/>
              </a:rPr>
              <a:t>Random Forest</a:t>
            </a:r>
          </a:p>
        </p:txBody>
      </p:sp>
      <p:sp>
        <p:nvSpPr>
          <p:cNvPr id="6" name="TextBox 5"/>
          <p:cNvSpPr txBox="1"/>
          <p:nvPr/>
        </p:nvSpPr>
        <p:spPr>
          <a:xfrm>
            <a:off x="868680" y="1143000"/>
            <a:ext cx="10149840" cy="502920"/>
          </a:xfrm>
          <a:prstGeom prst="rect">
            <a:avLst/>
          </a:prstGeom>
          <a:noFill/>
        </p:spPr>
        <p:txBody>
          <a:bodyPr wrap="square" anchor="t">
            <a:spAutoFit/>
          </a:bodyPr>
          <a:lstStyle/>
          <a:p>
            <a:pPr algn="l"/>
            <a:r>
              <a:rPr sz="1900" b="0">
                <a:solidFill>
                  <a:srgbClr val="B8DADB"/>
                </a:solidFill>
                <a:latin typeface="Aptos"/>
              </a:rPr>
              <a:t>An ensemble model that combines multiple decision trees to classify student risk.</a:t>
            </a:r>
          </a:p>
        </p:txBody>
      </p:sp>
      <p:sp>
        <p:nvSpPr>
          <p:cNvPr id="7" name="Rounded Rectangle 6"/>
          <p:cNvSpPr/>
          <p:nvPr/>
        </p:nvSpPr>
        <p:spPr>
          <a:xfrm>
            <a:off x="914400" y="2057400"/>
            <a:ext cx="1234440" cy="685800"/>
          </a:xfrm>
          <a:prstGeom prst="roundRect">
            <a:avLst/>
          </a:prstGeom>
          <a:solidFill>
            <a:srgbClr val="08232B"/>
          </a:solidFill>
          <a:ln w="1905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2103120"/>
            <a:ext cx="1088136" cy="594360"/>
          </a:xfrm>
          <a:prstGeom prst="rect">
            <a:avLst/>
          </a:prstGeom>
          <a:noFill/>
        </p:spPr>
        <p:txBody>
          <a:bodyPr wrap="square" anchor="ctr">
            <a:spAutoFit/>
          </a:bodyPr>
          <a:lstStyle/>
          <a:p>
            <a:pPr algn="ctr"/>
            <a:r>
              <a:rPr sz="1500" b="1">
                <a:solidFill>
                  <a:srgbClr val="F5F7F7"/>
                </a:solidFill>
                <a:latin typeface="Aptos"/>
              </a:rPr>
              <a:t>Tree 1</a:t>
            </a:r>
          </a:p>
        </p:txBody>
      </p:sp>
      <p:sp>
        <p:nvSpPr>
          <p:cNvPr id="9" name="Right Arrow 8"/>
          <p:cNvSpPr/>
          <p:nvPr/>
        </p:nvSpPr>
        <p:spPr>
          <a:xfrm>
            <a:off x="2258568" y="2276856"/>
            <a:ext cx="365760" cy="219456"/>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743200" y="2057400"/>
            <a:ext cx="1234440" cy="685800"/>
          </a:xfrm>
          <a:prstGeom prst="roundRect">
            <a:avLst/>
          </a:prstGeom>
          <a:solidFill>
            <a:srgbClr val="08232B"/>
          </a:solidFill>
          <a:ln w="1905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16352" y="2103120"/>
            <a:ext cx="1088136" cy="594360"/>
          </a:xfrm>
          <a:prstGeom prst="rect">
            <a:avLst/>
          </a:prstGeom>
          <a:noFill/>
        </p:spPr>
        <p:txBody>
          <a:bodyPr wrap="square" anchor="ctr">
            <a:spAutoFit/>
          </a:bodyPr>
          <a:lstStyle/>
          <a:p>
            <a:pPr algn="ctr"/>
            <a:r>
              <a:rPr sz="1500" b="1">
                <a:solidFill>
                  <a:srgbClr val="F5F7F7"/>
                </a:solidFill>
                <a:latin typeface="Aptos"/>
              </a:rPr>
              <a:t>Tree 2</a:t>
            </a:r>
          </a:p>
        </p:txBody>
      </p:sp>
      <p:sp>
        <p:nvSpPr>
          <p:cNvPr id="12" name="Right Arrow 11"/>
          <p:cNvSpPr/>
          <p:nvPr/>
        </p:nvSpPr>
        <p:spPr>
          <a:xfrm>
            <a:off x="4087368" y="2276856"/>
            <a:ext cx="365760" cy="219456"/>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72000" y="2057400"/>
            <a:ext cx="1234440" cy="685800"/>
          </a:xfrm>
          <a:prstGeom prst="roundRect">
            <a:avLst/>
          </a:prstGeom>
          <a:solidFill>
            <a:srgbClr val="08232B"/>
          </a:solidFill>
          <a:ln w="1905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45152" y="2103120"/>
            <a:ext cx="1088136" cy="594360"/>
          </a:xfrm>
          <a:prstGeom prst="rect">
            <a:avLst/>
          </a:prstGeom>
          <a:noFill/>
        </p:spPr>
        <p:txBody>
          <a:bodyPr wrap="square" anchor="ctr">
            <a:spAutoFit/>
          </a:bodyPr>
          <a:lstStyle/>
          <a:p>
            <a:pPr algn="ctr"/>
            <a:r>
              <a:rPr sz="1500" b="1">
                <a:solidFill>
                  <a:srgbClr val="F5F7F7"/>
                </a:solidFill>
                <a:latin typeface="Aptos"/>
              </a:rPr>
              <a:t>Tree 3</a:t>
            </a:r>
          </a:p>
        </p:txBody>
      </p:sp>
      <p:sp>
        <p:nvSpPr>
          <p:cNvPr id="15" name="Right Arrow 14"/>
          <p:cNvSpPr/>
          <p:nvPr/>
        </p:nvSpPr>
        <p:spPr>
          <a:xfrm>
            <a:off x="5916168" y="2276856"/>
            <a:ext cx="365760" cy="219456"/>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0" y="2057400"/>
            <a:ext cx="1234440" cy="685800"/>
          </a:xfrm>
          <a:prstGeom prst="roundRect">
            <a:avLst/>
          </a:prstGeom>
          <a:solidFill>
            <a:srgbClr val="08232B"/>
          </a:solidFill>
          <a:ln w="1905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73952" y="2103120"/>
            <a:ext cx="1088136" cy="594360"/>
          </a:xfrm>
          <a:prstGeom prst="rect">
            <a:avLst/>
          </a:prstGeom>
          <a:noFill/>
        </p:spPr>
        <p:txBody>
          <a:bodyPr wrap="square" anchor="ctr">
            <a:spAutoFit/>
          </a:bodyPr>
          <a:lstStyle/>
          <a:p>
            <a:pPr algn="ctr"/>
            <a:r>
              <a:rPr sz="1500" b="1">
                <a:solidFill>
                  <a:srgbClr val="F5F7F7"/>
                </a:solidFill>
                <a:latin typeface="Aptos"/>
              </a:rPr>
              <a:t>Tree N</a:t>
            </a:r>
          </a:p>
        </p:txBody>
      </p:sp>
      <p:sp>
        <p:nvSpPr>
          <p:cNvPr id="18" name="TextBox 17"/>
          <p:cNvSpPr txBox="1"/>
          <p:nvPr/>
        </p:nvSpPr>
        <p:spPr>
          <a:xfrm>
            <a:off x="5715000" y="2880360"/>
            <a:ext cx="457200" cy="457200"/>
          </a:xfrm>
          <a:prstGeom prst="rect">
            <a:avLst/>
          </a:prstGeom>
          <a:noFill/>
        </p:spPr>
        <p:txBody>
          <a:bodyPr wrap="square" anchor="t">
            <a:spAutoFit/>
          </a:bodyPr>
          <a:lstStyle/>
          <a:p>
            <a:pPr algn="ctr"/>
            <a:r>
              <a:rPr sz="2800" b="1">
                <a:solidFill>
                  <a:srgbClr val="89DAE0"/>
                </a:solidFill>
                <a:latin typeface="Aptos"/>
              </a:rPr>
              <a:t>↓</a:t>
            </a:r>
          </a:p>
        </p:txBody>
      </p:sp>
      <p:sp>
        <p:nvSpPr>
          <p:cNvPr id="19" name="Rounded Rectangle 18"/>
          <p:cNvSpPr/>
          <p:nvPr/>
        </p:nvSpPr>
        <p:spPr>
          <a:xfrm>
            <a:off x="4572000" y="3337560"/>
            <a:ext cx="2971800" cy="731520"/>
          </a:xfrm>
          <a:prstGeom prst="roundRect">
            <a:avLst/>
          </a:prstGeom>
          <a:solidFill>
            <a:srgbClr val="08232B"/>
          </a:solidFill>
          <a:ln w="19050">
            <a:solidFill>
              <a:srgbClr val="CD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45152" y="3383279"/>
            <a:ext cx="2825496" cy="640080"/>
          </a:xfrm>
          <a:prstGeom prst="rect">
            <a:avLst/>
          </a:prstGeom>
          <a:noFill/>
        </p:spPr>
        <p:txBody>
          <a:bodyPr wrap="square" anchor="ctr">
            <a:spAutoFit/>
          </a:bodyPr>
          <a:lstStyle/>
          <a:p>
            <a:pPr algn="ctr"/>
            <a:r>
              <a:rPr sz="1500" b="1">
                <a:solidFill>
                  <a:srgbClr val="F5F7F7"/>
                </a:solidFill>
                <a:latin typeface="Aptos"/>
              </a:rPr>
              <a:t>MAJORITY VOTE</a:t>
            </a:r>
          </a:p>
        </p:txBody>
      </p:sp>
      <p:sp>
        <p:nvSpPr>
          <p:cNvPr id="21" name="Right Arrow 20"/>
          <p:cNvSpPr/>
          <p:nvPr/>
        </p:nvSpPr>
        <p:spPr>
          <a:xfrm>
            <a:off x="5715000" y="4160520"/>
            <a:ext cx="457200" cy="274320"/>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709160" y="4572000"/>
            <a:ext cx="2697480" cy="731520"/>
          </a:xfrm>
          <a:prstGeom prst="roundRect">
            <a:avLst/>
          </a:prstGeom>
          <a:solidFill>
            <a:srgbClr val="08232B"/>
          </a:solidFill>
          <a:ln w="1905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82312" y="4617720"/>
            <a:ext cx="2551176" cy="640080"/>
          </a:xfrm>
          <a:prstGeom prst="rect">
            <a:avLst/>
          </a:prstGeom>
          <a:noFill/>
        </p:spPr>
        <p:txBody>
          <a:bodyPr wrap="square" anchor="ctr">
            <a:spAutoFit/>
          </a:bodyPr>
          <a:lstStyle/>
          <a:p>
            <a:pPr algn="ctr"/>
            <a:r>
              <a:rPr sz="1500" b="1">
                <a:solidFill>
                  <a:srgbClr val="F5F7F7"/>
                </a:solidFill>
                <a:latin typeface="Aptos"/>
              </a:rPr>
              <a:t>RISK CLASS</a:t>
            </a:r>
          </a:p>
        </p:txBody>
      </p:sp>
      <p:sp>
        <p:nvSpPr>
          <p:cNvPr id="24" name="TextBox 23"/>
          <p:cNvSpPr txBox="1"/>
          <p:nvPr/>
        </p:nvSpPr>
        <p:spPr>
          <a:xfrm>
            <a:off x="914400" y="5623560"/>
            <a:ext cx="10058400" cy="411480"/>
          </a:xfrm>
          <a:prstGeom prst="rect">
            <a:avLst/>
          </a:prstGeom>
          <a:noFill/>
        </p:spPr>
        <p:txBody>
          <a:bodyPr wrap="square" anchor="t">
            <a:spAutoFit/>
          </a:bodyPr>
          <a:lstStyle/>
          <a:p>
            <a:pPr algn="l"/>
            <a:r>
              <a:rPr sz="1600" b="0">
                <a:solidFill>
                  <a:srgbClr val="B8DADB"/>
                </a:solidFill>
                <a:latin typeface="Aptos"/>
              </a:rPr>
              <a:t>Useful because student outcomes may depend on combinations of factors rather than one feature alone.</a:t>
            </a:r>
          </a:p>
        </p:txBody>
      </p:sp>
      <p:sp>
        <p:nvSpPr>
          <p:cNvPr id="25" name="TextBox 24"/>
          <p:cNvSpPr txBox="1"/>
          <p:nvPr/>
        </p:nvSpPr>
        <p:spPr>
          <a:xfrm>
            <a:off x="10927080" y="6419088"/>
            <a:ext cx="411480" cy="228600"/>
          </a:xfrm>
          <a:prstGeom prst="rect">
            <a:avLst/>
          </a:prstGeom>
          <a:noFill/>
        </p:spPr>
        <p:txBody>
          <a:bodyPr wrap="square" anchor="t">
            <a:spAutoFit/>
          </a:bodyPr>
          <a:lstStyle/>
          <a:p>
            <a:pPr algn="r"/>
            <a:r>
              <a:rPr sz="1000" b="1">
                <a:solidFill>
                  <a:srgbClr val="89DAE0"/>
                </a:solidFill>
                <a:latin typeface="Aptos"/>
              </a:rPr>
              <a:t>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 y="182880"/>
            <a:ext cx="11521440" cy="6400800"/>
          </a:xfrm>
          <a:prstGeom prst="rect">
            <a:avLst/>
          </a:prstGeom>
          <a:solidFill>
            <a:srgbClr val="0F4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61320" y="0"/>
            <a:ext cx="685800" cy="914400"/>
          </a:xfrm>
          <a:prstGeom prst="rect">
            <a:avLst/>
          </a:prstGeom>
          <a:solidFill>
            <a:srgbClr val="CD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411480"/>
            <a:ext cx="9418320" cy="594360"/>
          </a:xfrm>
          <a:prstGeom prst="rect">
            <a:avLst/>
          </a:prstGeom>
          <a:noFill/>
        </p:spPr>
        <p:txBody>
          <a:bodyPr wrap="square" anchor="t">
            <a:spAutoFit/>
          </a:bodyPr>
          <a:lstStyle/>
          <a:p>
            <a:pPr algn="l"/>
            <a:r>
              <a:rPr sz="2800" b="1">
                <a:solidFill>
                  <a:srgbClr val="F5F7F7"/>
                </a:solidFill>
                <a:latin typeface="Aptos"/>
              </a:rPr>
              <a:t>Model Comparison</a:t>
            </a:r>
          </a:p>
        </p:txBody>
      </p:sp>
      <p:sp>
        <p:nvSpPr>
          <p:cNvPr id="6" name="TextBox 5"/>
          <p:cNvSpPr txBox="1"/>
          <p:nvPr/>
        </p:nvSpPr>
        <p:spPr>
          <a:xfrm>
            <a:off x="868680" y="1097280"/>
            <a:ext cx="10058400" cy="502920"/>
          </a:xfrm>
          <a:prstGeom prst="rect">
            <a:avLst/>
          </a:prstGeom>
          <a:noFill/>
        </p:spPr>
        <p:txBody>
          <a:bodyPr wrap="square" anchor="t">
            <a:spAutoFit/>
          </a:bodyPr>
          <a:lstStyle/>
          <a:p>
            <a:pPr algn="l"/>
            <a:r>
              <a:rPr sz="1800" b="0">
                <a:solidFill>
                  <a:srgbClr val="B8DADB"/>
                </a:solidFill>
                <a:latin typeface="Aptos"/>
              </a:rPr>
              <a:t>The two models will be trained and evaluated on the same prepared dataset.</a:t>
            </a:r>
          </a:p>
        </p:txBody>
      </p:sp>
      <p:sp>
        <p:nvSpPr>
          <p:cNvPr id="7" name="Rounded Rectangle 6"/>
          <p:cNvSpPr/>
          <p:nvPr/>
        </p:nvSpPr>
        <p:spPr>
          <a:xfrm>
            <a:off x="777240" y="1828800"/>
            <a:ext cx="2651760" cy="685800"/>
          </a:xfrm>
          <a:prstGeom prst="roundRect">
            <a:avLst/>
          </a:prstGeom>
          <a:solidFill>
            <a:srgbClr val="08232B"/>
          </a:solidFill>
          <a:ln w="16510">
            <a:solidFill>
              <a:srgbClr val="CD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1965960"/>
            <a:ext cx="2322576" cy="384048"/>
          </a:xfrm>
          <a:prstGeom prst="rect">
            <a:avLst/>
          </a:prstGeom>
          <a:noFill/>
        </p:spPr>
        <p:txBody>
          <a:bodyPr wrap="square" anchor="t">
            <a:spAutoFit/>
          </a:bodyPr>
          <a:lstStyle/>
          <a:p>
            <a:pPr algn="l"/>
            <a:r>
              <a:rPr sz="1800" b="1">
                <a:solidFill>
                  <a:srgbClr val="CD1818"/>
                </a:solidFill>
                <a:latin typeface="Aptos"/>
              </a:rPr>
              <a:t>Aspect</a:t>
            </a:r>
          </a:p>
        </p:txBody>
      </p:sp>
      <p:sp>
        <p:nvSpPr>
          <p:cNvPr id="9" name="TextBox 8"/>
          <p:cNvSpPr txBox="1"/>
          <p:nvPr/>
        </p:nvSpPr>
        <p:spPr>
          <a:xfrm>
            <a:off x="941832" y="2423160"/>
            <a:ext cx="2322576" cy="0"/>
          </a:xfrm>
          <a:prstGeom prst="rect">
            <a:avLst/>
          </a:prstGeom>
          <a:noFill/>
        </p:spPr>
        <p:txBody>
          <a:bodyPr wrap="square" anchor="t">
            <a:spAutoFit/>
          </a:bodyPr>
          <a:lstStyle/>
          <a:p>
            <a:pPr algn="l"/>
            <a:endParaRPr/>
          </a:p>
        </p:txBody>
      </p:sp>
      <p:sp>
        <p:nvSpPr>
          <p:cNvPr id="10" name="Rounded Rectangle 9"/>
          <p:cNvSpPr/>
          <p:nvPr/>
        </p:nvSpPr>
        <p:spPr>
          <a:xfrm>
            <a:off x="3657600" y="1828800"/>
            <a:ext cx="3474720" cy="68580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22191" y="1965960"/>
            <a:ext cx="3145536" cy="384048"/>
          </a:xfrm>
          <a:prstGeom prst="rect">
            <a:avLst/>
          </a:prstGeom>
          <a:noFill/>
        </p:spPr>
        <p:txBody>
          <a:bodyPr wrap="square" anchor="t">
            <a:spAutoFit/>
          </a:bodyPr>
          <a:lstStyle/>
          <a:p>
            <a:pPr algn="l"/>
            <a:r>
              <a:rPr sz="1800" b="1">
                <a:solidFill>
                  <a:srgbClr val="89DAE0"/>
                </a:solidFill>
                <a:latin typeface="Aptos"/>
              </a:rPr>
              <a:t>Logistic Regression</a:t>
            </a:r>
          </a:p>
        </p:txBody>
      </p:sp>
      <p:sp>
        <p:nvSpPr>
          <p:cNvPr id="12" name="TextBox 11"/>
          <p:cNvSpPr txBox="1"/>
          <p:nvPr/>
        </p:nvSpPr>
        <p:spPr>
          <a:xfrm>
            <a:off x="3822191" y="2423160"/>
            <a:ext cx="3145536" cy="0"/>
          </a:xfrm>
          <a:prstGeom prst="rect">
            <a:avLst/>
          </a:prstGeom>
          <a:noFill/>
        </p:spPr>
        <p:txBody>
          <a:bodyPr wrap="square" anchor="t">
            <a:spAutoFit/>
          </a:bodyPr>
          <a:lstStyle/>
          <a:p>
            <a:pPr algn="l"/>
            <a:endParaRPr/>
          </a:p>
        </p:txBody>
      </p:sp>
      <p:sp>
        <p:nvSpPr>
          <p:cNvPr id="13" name="Rounded Rectangle 12"/>
          <p:cNvSpPr/>
          <p:nvPr/>
        </p:nvSpPr>
        <p:spPr>
          <a:xfrm>
            <a:off x="7452360" y="1828800"/>
            <a:ext cx="3749039" cy="68580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16952" y="1965960"/>
            <a:ext cx="3419856" cy="384048"/>
          </a:xfrm>
          <a:prstGeom prst="rect">
            <a:avLst/>
          </a:prstGeom>
          <a:noFill/>
        </p:spPr>
        <p:txBody>
          <a:bodyPr wrap="square" anchor="t">
            <a:spAutoFit/>
          </a:bodyPr>
          <a:lstStyle/>
          <a:p>
            <a:pPr algn="l"/>
            <a:r>
              <a:rPr sz="1800" b="1">
                <a:solidFill>
                  <a:srgbClr val="89DAE0"/>
                </a:solidFill>
                <a:latin typeface="Aptos"/>
              </a:rPr>
              <a:t>Random Forest</a:t>
            </a:r>
          </a:p>
        </p:txBody>
      </p:sp>
      <p:sp>
        <p:nvSpPr>
          <p:cNvPr id="15" name="TextBox 14"/>
          <p:cNvSpPr txBox="1"/>
          <p:nvPr/>
        </p:nvSpPr>
        <p:spPr>
          <a:xfrm>
            <a:off x="7616952" y="2423160"/>
            <a:ext cx="3419856" cy="0"/>
          </a:xfrm>
          <a:prstGeom prst="rect">
            <a:avLst/>
          </a:prstGeom>
          <a:noFill/>
        </p:spPr>
        <p:txBody>
          <a:bodyPr wrap="square" anchor="t">
            <a:spAutoFit/>
          </a:bodyPr>
          <a:lstStyle/>
          <a:p>
            <a:pPr algn="l"/>
            <a:endParaRPr/>
          </a:p>
        </p:txBody>
      </p:sp>
      <p:sp>
        <p:nvSpPr>
          <p:cNvPr id="16" name="TextBox 15"/>
          <p:cNvSpPr txBox="1"/>
          <p:nvPr/>
        </p:nvSpPr>
        <p:spPr>
          <a:xfrm>
            <a:off x="868680" y="2651760"/>
            <a:ext cx="2468880" cy="384048"/>
          </a:xfrm>
          <a:prstGeom prst="rect">
            <a:avLst/>
          </a:prstGeom>
          <a:noFill/>
        </p:spPr>
        <p:txBody>
          <a:bodyPr wrap="square" anchor="t">
            <a:spAutoFit/>
          </a:bodyPr>
          <a:lstStyle/>
          <a:p>
            <a:pPr algn="l"/>
            <a:r>
              <a:rPr sz="1500" b="1">
                <a:solidFill>
                  <a:srgbClr val="F5F7F7"/>
                </a:solidFill>
                <a:latin typeface="Aptos"/>
              </a:rPr>
              <a:t>Model type</a:t>
            </a:r>
          </a:p>
        </p:txBody>
      </p:sp>
      <p:sp>
        <p:nvSpPr>
          <p:cNvPr id="17" name="TextBox 16"/>
          <p:cNvSpPr txBox="1"/>
          <p:nvPr/>
        </p:nvSpPr>
        <p:spPr>
          <a:xfrm>
            <a:off x="3749039" y="2651760"/>
            <a:ext cx="3154680" cy="384048"/>
          </a:xfrm>
          <a:prstGeom prst="rect">
            <a:avLst/>
          </a:prstGeom>
          <a:noFill/>
        </p:spPr>
        <p:txBody>
          <a:bodyPr wrap="square" anchor="t">
            <a:spAutoFit/>
          </a:bodyPr>
          <a:lstStyle/>
          <a:p>
            <a:pPr algn="l"/>
            <a:r>
              <a:rPr sz="1450" b="0">
                <a:solidFill>
                  <a:srgbClr val="B8DADB"/>
                </a:solidFill>
                <a:latin typeface="Aptos"/>
              </a:rPr>
              <a:t>Linear classifier</a:t>
            </a:r>
          </a:p>
        </p:txBody>
      </p:sp>
      <p:sp>
        <p:nvSpPr>
          <p:cNvPr id="18" name="TextBox 17"/>
          <p:cNvSpPr txBox="1"/>
          <p:nvPr/>
        </p:nvSpPr>
        <p:spPr>
          <a:xfrm>
            <a:off x="7543800" y="2651760"/>
            <a:ext cx="3337560" cy="384048"/>
          </a:xfrm>
          <a:prstGeom prst="rect">
            <a:avLst/>
          </a:prstGeom>
          <a:noFill/>
        </p:spPr>
        <p:txBody>
          <a:bodyPr wrap="square" anchor="t">
            <a:spAutoFit/>
          </a:bodyPr>
          <a:lstStyle/>
          <a:p>
            <a:pPr algn="l"/>
            <a:r>
              <a:rPr sz="1450" b="0">
                <a:solidFill>
                  <a:srgbClr val="B8DADB"/>
                </a:solidFill>
                <a:latin typeface="Aptos"/>
              </a:rPr>
              <a:t>Ensemble of trees</a:t>
            </a:r>
          </a:p>
        </p:txBody>
      </p:sp>
      <p:sp>
        <p:nvSpPr>
          <p:cNvPr id="19" name="TextBox 18"/>
          <p:cNvSpPr txBox="1"/>
          <p:nvPr/>
        </p:nvSpPr>
        <p:spPr>
          <a:xfrm>
            <a:off x="868680" y="3273552"/>
            <a:ext cx="2468880" cy="384048"/>
          </a:xfrm>
          <a:prstGeom prst="rect">
            <a:avLst/>
          </a:prstGeom>
          <a:noFill/>
        </p:spPr>
        <p:txBody>
          <a:bodyPr wrap="square" anchor="t">
            <a:spAutoFit/>
          </a:bodyPr>
          <a:lstStyle/>
          <a:p>
            <a:pPr algn="l"/>
            <a:r>
              <a:rPr sz="1500" b="1">
                <a:solidFill>
                  <a:srgbClr val="F5F7F7"/>
                </a:solidFill>
                <a:latin typeface="Aptos"/>
              </a:rPr>
              <a:t>Interpretability</a:t>
            </a:r>
          </a:p>
        </p:txBody>
      </p:sp>
      <p:sp>
        <p:nvSpPr>
          <p:cNvPr id="20" name="TextBox 19"/>
          <p:cNvSpPr txBox="1"/>
          <p:nvPr/>
        </p:nvSpPr>
        <p:spPr>
          <a:xfrm>
            <a:off x="3749039" y="3273552"/>
            <a:ext cx="3154680" cy="384048"/>
          </a:xfrm>
          <a:prstGeom prst="rect">
            <a:avLst/>
          </a:prstGeom>
          <a:noFill/>
        </p:spPr>
        <p:txBody>
          <a:bodyPr wrap="square" anchor="t">
            <a:spAutoFit/>
          </a:bodyPr>
          <a:lstStyle/>
          <a:p>
            <a:pPr algn="l"/>
            <a:r>
              <a:rPr sz="1450" b="0">
                <a:solidFill>
                  <a:srgbClr val="B8DADB"/>
                </a:solidFill>
                <a:latin typeface="Aptos"/>
              </a:rPr>
              <a:t>High</a:t>
            </a:r>
          </a:p>
        </p:txBody>
      </p:sp>
      <p:sp>
        <p:nvSpPr>
          <p:cNvPr id="21" name="TextBox 20"/>
          <p:cNvSpPr txBox="1"/>
          <p:nvPr/>
        </p:nvSpPr>
        <p:spPr>
          <a:xfrm>
            <a:off x="7543800" y="3273552"/>
            <a:ext cx="3337560" cy="384048"/>
          </a:xfrm>
          <a:prstGeom prst="rect">
            <a:avLst/>
          </a:prstGeom>
          <a:noFill/>
        </p:spPr>
        <p:txBody>
          <a:bodyPr wrap="square" anchor="t">
            <a:spAutoFit/>
          </a:bodyPr>
          <a:lstStyle/>
          <a:p>
            <a:pPr algn="l"/>
            <a:r>
              <a:rPr sz="1450" b="0">
                <a:solidFill>
                  <a:srgbClr val="B8DADB"/>
                </a:solidFill>
                <a:latin typeface="Aptos"/>
              </a:rPr>
              <a:t>Moderate</a:t>
            </a:r>
          </a:p>
        </p:txBody>
      </p:sp>
      <p:sp>
        <p:nvSpPr>
          <p:cNvPr id="22" name="TextBox 21"/>
          <p:cNvSpPr txBox="1"/>
          <p:nvPr/>
        </p:nvSpPr>
        <p:spPr>
          <a:xfrm>
            <a:off x="868680" y="3895344"/>
            <a:ext cx="2468880" cy="384048"/>
          </a:xfrm>
          <a:prstGeom prst="rect">
            <a:avLst/>
          </a:prstGeom>
          <a:noFill/>
        </p:spPr>
        <p:txBody>
          <a:bodyPr wrap="square" anchor="t">
            <a:spAutoFit/>
          </a:bodyPr>
          <a:lstStyle/>
          <a:p>
            <a:pPr algn="l"/>
            <a:r>
              <a:rPr sz="1500" b="1">
                <a:solidFill>
                  <a:srgbClr val="F5F7F7"/>
                </a:solidFill>
                <a:latin typeface="Aptos"/>
              </a:rPr>
              <a:t>Complex patterns</a:t>
            </a:r>
          </a:p>
        </p:txBody>
      </p:sp>
      <p:sp>
        <p:nvSpPr>
          <p:cNvPr id="23" name="TextBox 22"/>
          <p:cNvSpPr txBox="1"/>
          <p:nvPr/>
        </p:nvSpPr>
        <p:spPr>
          <a:xfrm>
            <a:off x="3749039" y="3895344"/>
            <a:ext cx="3154680" cy="384048"/>
          </a:xfrm>
          <a:prstGeom prst="rect">
            <a:avLst/>
          </a:prstGeom>
          <a:noFill/>
        </p:spPr>
        <p:txBody>
          <a:bodyPr wrap="square" anchor="t">
            <a:spAutoFit/>
          </a:bodyPr>
          <a:lstStyle/>
          <a:p>
            <a:pPr algn="l"/>
            <a:r>
              <a:rPr sz="1450" b="0">
                <a:solidFill>
                  <a:srgbClr val="B8DADB"/>
                </a:solidFill>
                <a:latin typeface="Aptos"/>
              </a:rPr>
              <a:t>More limited</a:t>
            </a:r>
          </a:p>
        </p:txBody>
      </p:sp>
      <p:sp>
        <p:nvSpPr>
          <p:cNvPr id="24" name="TextBox 23"/>
          <p:cNvSpPr txBox="1"/>
          <p:nvPr/>
        </p:nvSpPr>
        <p:spPr>
          <a:xfrm>
            <a:off x="7543800" y="3895344"/>
            <a:ext cx="3337560" cy="384048"/>
          </a:xfrm>
          <a:prstGeom prst="rect">
            <a:avLst/>
          </a:prstGeom>
          <a:noFill/>
        </p:spPr>
        <p:txBody>
          <a:bodyPr wrap="square" anchor="t">
            <a:spAutoFit/>
          </a:bodyPr>
          <a:lstStyle/>
          <a:p>
            <a:pPr algn="l"/>
            <a:r>
              <a:rPr sz="1450" b="0">
                <a:solidFill>
                  <a:srgbClr val="B8DADB"/>
                </a:solidFill>
                <a:latin typeface="Aptos"/>
              </a:rPr>
              <a:t>Can capture non-linear patterns</a:t>
            </a:r>
          </a:p>
        </p:txBody>
      </p:sp>
      <p:sp>
        <p:nvSpPr>
          <p:cNvPr id="25" name="TextBox 24"/>
          <p:cNvSpPr txBox="1"/>
          <p:nvPr/>
        </p:nvSpPr>
        <p:spPr>
          <a:xfrm>
            <a:off x="868680" y="4517136"/>
            <a:ext cx="2468880" cy="384048"/>
          </a:xfrm>
          <a:prstGeom prst="rect">
            <a:avLst/>
          </a:prstGeom>
          <a:noFill/>
        </p:spPr>
        <p:txBody>
          <a:bodyPr wrap="square" anchor="t">
            <a:spAutoFit/>
          </a:bodyPr>
          <a:lstStyle/>
          <a:p>
            <a:pPr algn="l"/>
            <a:r>
              <a:rPr sz="1500" b="1">
                <a:solidFill>
                  <a:srgbClr val="F5F7F7"/>
                </a:solidFill>
                <a:latin typeface="Aptos"/>
              </a:rPr>
              <a:t>Training</a:t>
            </a:r>
          </a:p>
        </p:txBody>
      </p:sp>
      <p:sp>
        <p:nvSpPr>
          <p:cNvPr id="26" name="TextBox 25"/>
          <p:cNvSpPr txBox="1"/>
          <p:nvPr/>
        </p:nvSpPr>
        <p:spPr>
          <a:xfrm>
            <a:off x="3749039" y="4517136"/>
            <a:ext cx="3154680" cy="384048"/>
          </a:xfrm>
          <a:prstGeom prst="rect">
            <a:avLst/>
          </a:prstGeom>
          <a:noFill/>
        </p:spPr>
        <p:txBody>
          <a:bodyPr wrap="square" anchor="t">
            <a:spAutoFit/>
          </a:bodyPr>
          <a:lstStyle/>
          <a:p>
            <a:pPr algn="l"/>
            <a:r>
              <a:rPr sz="1450" b="0">
                <a:solidFill>
                  <a:srgbClr val="B8DADB"/>
                </a:solidFill>
                <a:latin typeface="Aptos"/>
              </a:rPr>
              <a:t>Simple / fast</a:t>
            </a:r>
          </a:p>
        </p:txBody>
      </p:sp>
      <p:sp>
        <p:nvSpPr>
          <p:cNvPr id="27" name="TextBox 26"/>
          <p:cNvSpPr txBox="1"/>
          <p:nvPr/>
        </p:nvSpPr>
        <p:spPr>
          <a:xfrm>
            <a:off x="7543800" y="4517136"/>
            <a:ext cx="3337560" cy="384048"/>
          </a:xfrm>
          <a:prstGeom prst="rect">
            <a:avLst/>
          </a:prstGeom>
          <a:noFill/>
        </p:spPr>
        <p:txBody>
          <a:bodyPr wrap="square" anchor="t">
            <a:spAutoFit/>
          </a:bodyPr>
          <a:lstStyle/>
          <a:p>
            <a:pPr algn="l"/>
            <a:r>
              <a:rPr sz="1450" b="0">
                <a:solidFill>
                  <a:srgbClr val="B8DADB"/>
                </a:solidFill>
                <a:latin typeface="Aptos"/>
              </a:rPr>
              <a:t>More computation</a:t>
            </a:r>
          </a:p>
        </p:txBody>
      </p:sp>
      <p:sp>
        <p:nvSpPr>
          <p:cNvPr id="28" name="TextBox 27"/>
          <p:cNvSpPr txBox="1"/>
          <p:nvPr/>
        </p:nvSpPr>
        <p:spPr>
          <a:xfrm>
            <a:off x="868680" y="5138928"/>
            <a:ext cx="2468880" cy="384048"/>
          </a:xfrm>
          <a:prstGeom prst="rect">
            <a:avLst/>
          </a:prstGeom>
          <a:noFill/>
        </p:spPr>
        <p:txBody>
          <a:bodyPr wrap="square" anchor="t">
            <a:spAutoFit/>
          </a:bodyPr>
          <a:lstStyle/>
          <a:p>
            <a:pPr algn="l"/>
            <a:r>
              <a:rPr sz="1500" b="1">
                <a:solidFill>
                  <a:srgbClr val="F5F7F7"/>
                </a:solidFill>
                <a:latin typeface="Aptos"/>
              </a:rPr>
              <a:t>Output</a:t>
            </a:r>
          </a:p>
        </p:txBody>
      </p:sp>
      <p:sp>
        <p:nvSpPr>
          <p:cNvPr id="29" name="TextBox 28"/>
          <p:cNvSpPr txBox="1"/>
          <p:nvPr/>
        </p:nvSpPr>
        <p:spPr>
          <a:xfrm>
            <a:off x="3749039" y="5138928"/>
            <a:ext cx="3154680" cy="384048"/>
          </a:xfrm>
          <a:prstGeom prst="rect">
            <a:avLst/>
          </a:prstGeom>
          <a:noFill/>
        </p:spPr>
        <p:txBody>
          <a:bodyPr wrap="square" anchor="t">
            <a:spAutoFit/>
          </a:bodyPr>
          <a:lstStyle/>
          <a:p>
            <a:pPr algn="l"/>
            <a:r>
              <a:rPr sz="1450" b="0">
                <a:solidFill>
                  <a:srgbClr val="B8DADB"/>
                </a:solidFill>
                <a:latin typeface="Aptos"/>
              </a:rPr>
              <a:t>Class probability</a:t>
            </a:r>
          </a:p>
        </p:txBody>
      </p:sp>
      <p:sp>
        <p:nvSpPr>
          <p:cNvPr id="30" name="TextBox 29"/>
          <p:cNvSpPr txBox="1"/>
          <p:nvPr/>
        </p:nvSpPr>
        <p:spPr>
          <a:xfrm>
            <a:off x="7543800" y="5138928"/>
            <a:ext cx="3337560" cy="384048"/>
          </a:xfrm>
          <a:prstGeom prst="rect">
            <a:avLst/>
          </a:prstGeom>
          <a:noFill/>
        </p:spPr>
        <p:txBody>
          <a:bodyPr wrap="square" anchor="t">
            <a:spAutoFit/>
          </a:bodyPr>
          <a:lstStyle/>
          <a:p>
            <a:pPr algn="l"/>
            <a:r>
              <a:rPr sz="1450" b="0">
                <a:solidFill>
                  <a:srgbClr val="B8DADB"/>
                </a:solidFill>
                <a:latin typeface="Aptos"/>
              </a:rPr>
              <a:t>Class + probability/score</a:t>
            </a:r>
          </a:p>
        </p:txBody>
      </p:sp>
      <p:sp>
        <p:nvSpPr>
          <p:cNvPr id="31" name="TextBox 30"/>
          <p:cNvSpPr txBox="1"/>
          <p:nvPr/>
        </p:nvSpPr>
        <p:spPr>
          <a:xfrm>
            <a:off x="914400" y="5989320"/>
            <a:ext cx="9875520" cy="320040"/>
          </a:xfrm>
          <a:prstGeom prst="rect">
            <a:avLst/>
          </a:prstGeom>
          <a:noFill/>
        </p:spPr>
        <p:txBody>
          <a:bodyPr wrap="square" anchor="t">
            <a:spAutoFit/>
          </a:bodyPr>
          <a:lstStyle/>
          <a:p>
            <a:pPr algn="ctr"/>
            <a:r>
              <a:rPr sz="1600" b="1">
                <a:solidFill>
                  <a:srgbClr val="89DAE0"/>
                </a:solidFill>
                <a:latin typeface="Aptos"/>
              </a:rPr>
              <a:t>Final model selection will be based on the measured results after implementation.</a:t>
            </a:r>
          </a:p>
        </p:txBody>
      </p:sp>
      <p:sp>
        <p:nvSpPr>
          <p:cNvPr id="32" name="TextBox 31"/>
          <p:cNvSpPr txBox="1"/>
          <p:nvPr/>
        </p:nvSpPr>
        <p:spPr>
          <a:xfrm>
            <a:off x="10927080" y="6419088"/>
            <a:ext cx="411480" cy="228600"/>
          </a:xfrm>
          <a:prstGeom prst="rect">
            <a:avLst/>
          </a:prstGeom>
          <a:noFill/>
        </p:spPr>
        <p:txBody>
          <a:bodyPr wrap="square" anchor="t">
            <a:spAutoFit/>
          </a:bodyPr>
          <a:lstStyle/>
          <a:p>
            <a:pPr algn="r"/>
            <a:r>
              <a:rPr sz="1000" b="1">
                <a:solidFill>
                  <a:srgbClr val="89DAE0"/>
                </a:solidFill>
                <a:latin typeface="Aptos"/>
              </a:rPr>
              <a:t>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 y="182880"/>
            <a:ext cx="11521440" cy="6400800"/>
          </a:xfrm>
          <a:prstGeom prst="rect">
            <a:avLst/>
          </a:prstGeom>
          <a:solidFill>
            <a:srgbClr val="0F4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61320" y="0"/>
            <a:ext cx="685800" cy="914400"/>
          </a:xfrm>
          <a:prstGeom prst="rect">
            <a:avLst/>
          </a:prstGeom>
          <a:solidFill>
            <a:srgbClr val="CD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411480"/>
            <a:ext cx="9418320" cy="594360"/>
          </a:xfrm>
          <a:prstGeom prst="rect">
            <a:avLst/>
          </a:prstGeom>
          <a:noFill/>
        </p:spPr>
        <p:txBody>
          <a:bodyPr wrap="square" anchor="t">
            <a:spAutoFit/>
          </a:bodyPr>
          <a:lstStyle/>
          <a:p>
            <a:pPr algn="l"/>
            <a:r>
              <a:rPr sz="2800" b="1">
                <a:solidFill>
                  <a:srgbClr val="F5F7F7"/>
                </a:solidFill>
                <a:latin typeface="Aptos"/>
              </a:rPr>
              <a:t>Expected Outcome</a:t>
            </a:r>
          </a:p>
        </p:txBody>
      </p:sp>
      <p:sp>
        <p:nvSpPr>
          <p:cNvPr id="6" name="Rounded Rectangle 5"/>
          <p:cNvSpPr/>
          <p:nvPr/>
        </p:nvSpPr>
        <p:spPr>
          <a:xfrm>
            <a:off x="731520" y="1417320"/>
            <a:ext cx="3474720" cy="182880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554480"/>
            <a:ext cx="3145536" cy="384048"/>
          </a:xfrm>
          <a:prstGeom prst="rect">
            <a:avLst/>
          </a:prstGeom>
          <a:noFill/>
        </p:spPr>
        <p:txBody>
          <a:bodyPr wrap="square" anchor="t">
            <a:spAutoFit/>
          </a:bodyPr>
          <a:lstStyle/>
          <a:p>
            <a:pPr algn="l"/>
            <a:r>
              <a:rPr sz="1800" b="1">
                <a:solidFill>
                  <a:srgbClr val="89DAE0"/>
                </a:solidFill>
                <a:latin typeface="Aptos"/>
              </a:rPr>
              <a:t>STUDENT VIEW</a:t>
            </a:r>
          </a:p>
        </p:txBody>
      </p:sp>
      <p:sp>
        <p:nvSpPr>
          <p:cNvPr id="8" name="TextBox 7"/>
          <p:cNvSpPr txBox="1"/>
          <p:nvPr/>
        </p:nvSpPr>
        <p:spPr>
          <a:xfrm>
            <a:off x="896112" y="2011680"/>
            <a:ext cx="3145536" cy="1115568"/>
          </a:xfrm>
          <a:prstGeom prst="rect">
            <a:avLst/>
          </a:prstGeom>
          <a:noFill/>
        </p:spPr>
        <p:txBody>
          <a:bodyPr wrap="square" anchor="t">
            <a:spAutoFit/>
          </a:bodyPr>
          <a:lstStyle/>
          <a:p>
            <a:pPr algn="l"/>
            <a:r>
              <a:rPr sz="1450" b="0">
                <a:solidFill>
                  <a:srgbClr val="B8DADB"/>
                </a:solidFill>
                <a:latin typeface="Aptos"/>
              </a:rPr>
              <a:t>Performance summary with marks, attendance and academic indicators.</a:t>
            </a:r>
          </a:p>
        </p:txBody>
      </p:sp>
      <p:sp>
        <p:nvSpPr>
          <p:cNvPr id="9" name="Rounded Rectangle 8"/>
          <p:cNvSpPr/>
          <p:nvPr/>
        </p:nvSpPr>
        <p:spPr>
          <a:xfrm>
            <a:off x="4389120" y="1417320"/>
            <a:ext cx="3474720" cy="182880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53712" y="1554480"/>
            <a:ext cx="3145536" cy="384048"/>
          </a:xfrm>
          <a:prstGeom prst="rect">
            <a:avLst/>
          </a:prstGeom>
          <a:noFill/>
        </p:spPr>
        <p:txBody>
          <a:bodyPr wrap="square" anchor="t">
            <a:spAutoFit/>
          </a:bodyPr>
          <a:lstStyle/>
          <a:p>
            <a:pPr algn="l"/>
            <a:r>
              <a:rPr sz="1800" b="1">
                <a:solidFill>
                  <a:srgbClr val="89DAE0"/>
                </a:solidFill>
                <a:latin typeface="Aptos"/>
              </a:rPr>
              <a:t>FACULTY VIEW</a:t>
            </a:r>
          </a:p>
        </p:txBody>
      </p:sp>
      <p:sp>
        <p:nvSpPr>
          <p:cNvPr id="11" name="TextBox 10"/>
          <p:cNvSpPr txBox="1"/>
          <p:nvPr/>
        </p:nvSpPr>
        <p:spPr>
          <a:xfrm>
            <a:off x="4553712" y="2011680"/>
            <a:ext cx="3145536" cy="1115568"/>
          </a:xfrm>
          <a:prstGeom prst="rect">
            <a:avLst/>
          </a:prstGeom>
          <a:noFill/>
        </p:spPr>
        <p:txBody>
          <a:bodyPr wrap="square" anchor="t">
            <a:spAutoFit/>
          </a:bodyPr>
          <a:lstStyle/>
          <a:p>
            <a:pPr algn="l"/>
            <a:r>
              <a:rPr sz="1450" b="0">
                <a:solidFill>
                  <a:srgbClr val="B8DADB"/>
                </a:solidFill>
                <a:latin typeface="Aptos"/>
              </a:rPr>
              <a:t>Class-level trends and a list of students who may need academic review.</a:t>
            </a:r>
          </a:p>
        </p:txBody>
      </p:sp>
      <p:sp>
        <p:nvSpPr>
          <p:cNvPr id="12" name="Rounded Rectangle 11"/>
          <p:cNvSpPr/>
          <p:nvPr/>
        </p:nvSpPr>
        <p:spPr>
          <a:xfrm>
            <a:off x="8046720" y="1417320"/>
            <a:ext cx="3474720" cy="1828800"/>
          </a:xfrm>
          <a:prstGeom prst="roundRect">
            <a:avLst/>
          </a:prstGeom>
          <a:solidFill>
            <a:srgbClr val="08232B"/>
          </a:solidFill>
          <a:ln w="1651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11312" y="1554480"/>
            <a:ext cx="3145536" cy="384048"/>
          </a:xfrm>
          <a:prstGeom prst="rect">
            <a:avLst/>
          </a:prstGeom>
          <a:noFill/>
        </p:spPr>
        <p:txBody>
          <a:bodyPr wrap="square" anchor="t">
            <a:spAutoFit/>
          </a:bodyPr>
          <a:lstStyle/>
          <a:p>
            <a:pPr algn="l"/>
            <a:r>
              <a:rPr sz="1800" b="1">
                <a:solidFill>
                  <a:srgbClr val="89DAE0"/>
                </a:solidFill>
                <a:latin typeface="Aptos"/>
              </a:rPr>
              <a:t>ANALYTICS</a:t>
            </a:r>
          </a:p>
        </p:txBody>
      </p:sp>
      <p:sp>
        <p:nvSpPr>
          <p:cNvPr id="14" name="TextBox 13"/>
          <p:cNvSpPr txBox="1"/>
          <p:nvPr/>
        </p:nvSpPr>
        <p:spPr>
          <a:xfrm>
            <a:off x="8211312" y="2011680"/>
            <a:ext cx="3145536" cy="1115568"/>
          </a:xfrm>
          <a:prstGeom prst="rect">
            <a:avLst/>
          </a:prstGeom>
          <a:noFill/>
        </p:spPr>
        <p:txBody>
          <a:bodyPr wrap="square" anchor="t">
            <a:spAutoFit/>
          </a:bodyPr>
          <a:lstStyle/>
          <a:p>
            <a:pPr algn="l"/>
            <a:r>
              <a:rPr sz="1450" b="0">
                <a:solidFill>
                  <a:srgbClr val="B8DADB"/>
                </a:solidFill>
                <a:latin typeface="Aptos"/>
              </a:rPr>
              <a:t>Charts for attendance, marks, risk categories and feature patterns.</a:t>
            </a:r>
          </a:p>
        </p:txBody>
      </p:sp>
      <p:sp>
        <p:nvSpPr>
          <p:cNvPr id="15" name="TextBox 14"/>
          <p:cNvSpPr txBox="1"/>
          <p:nvPr/>
        </p:nvSpPr>
        <p:spPr>
          <a:xfrm>
            <a:off x="868680" y="3886200"/>
            <a:ext cx="2011680" cy="320040"/>
          </a:xfrm>
          <a:prstGeom prst="rect">
            <a:avLst/>
          </a:prstGeom>
          <a:noFill/>
        </p:spPr>
        <p:txBody>
          <a:bodyPr wrap="square" anchor="t">
            <a:spAutoFit/>
          </a:bodyPr>
          <a:lstStyle/>
          <a:p>
            <a:pPr algn="l"/>
            <a:r>
              <a:rPr sz="1700" b="1">
                <a:solidFill>
                  <a:srgbClr val="89DAE0"/>
                </a:solidFill>
                <a:latin typeface="Aptos"/>
              </a:rPr>
              <a:t>Prototype flow</a:t>
            </a:r>
          </a:p>
        </p:txBody>
      </p:sp>
      <p:sp>
        <p:nvSpPr>
          <p:cNvPr id="16" name="Rounded Rectangle 15"/>
          <p:cNvSpPr/>
          <p:nvPr/>
        </p:nvSpPr>
        <p:spPr>
          <a:xfrm>
            <a:off x="868680" y="4434840"/>
            <a:ext cx="2148840" cy="731520"/>
          </a:xfrm>
          <a:prstGeom prst="roundRect">
            <a:avLst/>
          </a:prstGeom>
          <a:solidFill>
            <a:srgbClr val="08232B"/>
          </a:solidFill>
          <a:ln w="1905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41832" y="4480559"/>
            <a:ext cx="2002536" cy="640080"/>
          </a:xfrm>
          <a:prstGeom prst="rect">
            <a:avLst/>
          </a:prstGeom>
          <a:noFill/>
        </p:spPr>
        <p:txBody>
          <a:bodyPr wrap="square" anchor="ctr">
            <a:spAutoFit/>
          </a:bodyPr>
          <a:lstStyle/>
          <a:p>
            <a:pPr algn="ctr"/>
            <a:r>
              <a:rPr sz="1500" b="1">
                <a:solidFill>
                  <a:srgbClr val="F5F7F7"/>
                </a:solidFill>
                <a:latin typeface="Aptos"/>
              </a:rPr>
              <a:t>Upload / enter data</a:t>
            </a:r>
          </a:p>
        </p:txBody>
      </p:sp>
      <p:sp>
        <p:nvSpPr>
          <p:cNvPr id="18" name="Right Arrow 17"/>
          <p:cNvSpPr/>
          <p:nvPr/>
        </p:nvSpPr>
        <p:spPr>
          <a:xfrm>
            <a:off x="3063240" y="4681728"/>
            <a:ext cx="365760" cy="228600"/>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611880" y="4434840"/>
            <a:ext cx="2148840" cy="731520"/>
          </a:xfrm>
          <a:prstGeom prst="roundRect">
            <a:avLst/>
          </a:prstGeom>
          <a:solidFill>
            <a:srgbClr val="08232B"/>
          </a:solidFill>
          <a:ln w="1905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85032" y="4480559"/>
            <a:ext cx="2002536" cy="640080"/>
          </a:xfrm>
          <a:prstGeom prst="rect">
            <a:avLst/>
          </a:prstGeom>
          <a:noFill/>
        </p:spPr>
        <p:txBody>
          <a:bodyPr wrap="square" anchor="ctr">
            <a:spAutoFit/>
          </a:bodyPr>
          <a:lstStyle/>
          <a:p>
            <a:pPr algn="ctr"/>
            <a:r>
              <a:rPr sz="1500" b="1">
                <a:solidFill>
                  <a:srgbClr val="F5F7F7"/>
                </a:solidFill>
                <a:latin typeface="Aptos"/>
              </a:rPr>
              <a:t>Analyze</a:t>
            </a:r>
          </a:p>
        </p:txBody>
      </p:sp>
      <p:sp>
        <p:nvSpPr>
          <p:cNvPr id="21" name="Right Arrow 20"/>
          <p:cNvSpPr/>
          <p:nvPr/>
        </p:nvSpPr>
        <p:spPr>
          <a:xfrm>
            <a:off x="5806440" y="4681728"/>
            <a:ext cx="365760" cy="228600"/>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355080" y="4434840"/>
            <a:ext cx="2148840" cy="731520"/>
          </a:xfrm>
          <a:prstGeom prst="roundRect">
            <a:avLst/>
          </a:prstGeom>
          <a:solidFill>
            <a:srgbClr val="08232B"/>
          </a:solidFill>
          <a:ln w="19050">
            <a:solidFill>
              <a:srgbClr val="89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28232" y="4480559"/>
            <a:ext cx="2002536" cy="640080"/>
          </a:xfrm>
          <a:prstGeom prst="rect">
            <a:avLst/>
          </a:prstGeom>
          <a:noFill/>
        </p:spPr>
        <p:txBody>
          <a:bodyPr wrap="square" anchor="ctr">
            <a:spAutoFit/>
          </a:bodyPr>
          <a:lstStyle/>
          <a:p>
            <a:pPr algn="ctr"/>
            <a:r>
              <a:rPr sz="1500" b="1">
                <a:solidFill>
                  <a:srgbClr val="F5F7F7"/>
                </a:solidFill>
                <a:latin typeface="Aptos"/>
              </a:rPr>
              <a:t>Predict risk</a:t>
            </a:r>
          </a:p>
        </p:txBody>
      </p:sp>
      <p:sp>
        <p:nvSpPr>
          <p:cNvPr id="24" name="Right Arrow 23"/>
          <p:cNvSpPr/>
          <p:nvPr/>
        </p:nvSpPr>
        <p:spPr>
          <a:xfrm>
            <a:off x="8549640" y="4681728"/>
            <a:ext cx="365760" cy="228600"/>
          </a:xfrm>
          <a:prstGeom prst="rightArrow">
            <a:avLst/>
          </a:prstGeom>
          <a:solidFill>
            <a:srgbClr val="89DA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098280" y="4434840"/>
            <a:ext cx="2148840" cy="731520"/>
          </a:xfrm>
          <a:prstGeom prst="roundRect">
            <a:avLst/>
          </a:prstGeom>
          <a:solidFill>
            <a:srgbClr val="08232B"/>
          </a:solidFill>
          <a:ln w="19050">
            <a:solidFill>
              <a:srgbClr val="CD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71432" y="4480559"/>
            <a:ext cx="2002536" cy="640080"/>
          </a:xfrm>
          <a:prstGeom prst="rect">
            <a:avLst/>
          </a:prstGeom>
          <a:noFill/>
        </p:spPr>
        <p:txBody>
          <a:bodyPr wrap="square" anchor="ctr">
            <a:spAutoFit/>
          </a:bodyPr>
          <a:lstStyle/>
          <a:p>
            <a:pPr algn="ctr"/>
            <a:r>
              <a:rPr sz="1500" b="1">
                <a:solidFill>
                  <a:srgbClr val="F5F7F7"/>
                </a:solidFill>
                <a:latin typeface="Aptos"/>
              </a:rPr>
              <a:t>View dashboard</a:t>
            </a:r>
          </a:p>
        </p:txBody>
      </p:sp>
      <p:sp>
        <p:nvSpPr>
          <p:cNvPr id="27" name="TextBox 26"/>
          <p:cNvSpPr txBox="1"/>
          <p:nvPr/>
        </p:nvSpPr>
        <p:spPr>
          <a:xfrm>
            <a:off x="914400" y="5806440"/>
            <a:ext cx="10058400" cy="502920"/>
          </a:xfrm>
          <a:prstGeom prst="rect">
            <a:avLst/>
          </a:prstGeom>
          <a:noFill/>
        </p:spPr>
        <p:txBody>
          <a:bodyPr wrap="square" anchor="t">
            <a:spAutoFit/>
          </a:bodyPr>
          <a:lstStyle/>
          <a:p>
            <a:pPr algn="ctr"/>
            <a:r>
              <a:rPr sz="1550" b="0">
                <a:solidFill>
                  <a:srgbClr val="B8DADB"/>
                </a:solidFill>
                <a:latin typeface="Aptos"/>
              </a:rPr>
              <a:t>No performance numbers are assumed at this stage; actual metrics will be reported after training and testing the model.</a:t>
            </a:r>
          </a:p>
        </p:txBody>
      </p:sp>
      <p:sp>
        <p:nvSpPr>
          <p:cNvPr id="28" name="TextBox 27"/>
          <p:cNvSpPr txBox="1"/>
          <p:nvPr/>
        </p:nvSpPr>
        <p:spPr>
          <a:xfrm>
            <a:off x="10927080" y="6419088"/>
            <a:ext cx="411480" cy="228600"/>
          </a:xfrm>
          <a:prstGeom prst="rect">
            <a:avLst/>
          </a:prstGeom>
          <a:noFill/>
        </p:spPr>
        <p:txBody>
          <a:bodyPr wrap="square" anchor="t">
            <a:spAutoFit/>
          </a:bodyPr>
          <a:lstStyle/>
          <a:p>
            <a:pPr algn="r"/>
            <a:r>
              <a:rPr sz="1000" b="1">
                <a:solidFill>
                  <a:srgbClr val="89DAE0"/>
                </a:solidFill>
                <a:latin typeface="Aptos"/>
              </a:rPr>
              <a:t>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 y="182880"/>
            <a:ext cx="11521440" cy="6400800"/>
          </a:xfrm>
          <a:prstGeom prst="rect">
            <a:avLst/>
          </a:prstGeom>
          <a:solidFill>
            <a:srgbClr val="0F4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61320" y="0"/>
            <a:ext cx="685800" cy="914400"/>
          </a:xfrm>
          <a:prstGeom prst="rect">
            <a:avLst/>
          </a:prstGeom>
          <a:solidFill>
            <a:srgbClr val="CD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411480"/>
            <a:ext cx="9418320" cy="594360"/>
          </a:xfrm>
          <a:prstGeom prst="rect">
            <a:avLst/>
          </a:prstGeom>
          <a:noFill/>
        </p:spPr>
        <p:txBody>
          <a:bodyPr wrap="square" anchor="t">
            <a:spAutoFit/>
          </a:bodyPr>
          <a:lstStyle/>
          <a:p>
            <a:pPr algn="l"/>
            <a:r>
              <a:rPr sz="2800" b="1">
                <a:solidFill>
                  <a:srgbClr val="F5F7F7"/>
                </a:solidFill>
                <a:latin typeface="Aptos"/>
              </a:rPr>
              <a:t>Future Scope</a:t>
            </a:r>
          </a:p>
        </p:txBody>
      </p:sp>
      <p:sp>
        <p:nvSpPr>
          <p:cNvPr id="6" name="TextBox 5"/>
          <p:cNvSpPr txBox="1"/>
          <p:nvPr/>
        </p:nvSpPr>
        <p:spPr>
          <a:xfrm>
            <a:off x="914400" y="1417320"/>
            <a:ext cx="9875520" cy="4297680"/>
          </a:xfrm>
          <a:prstGeom prst="rect">
            <a:avLst/>
          </a:prstGeom>
          <a:noFill/>
        </p:spPr>
        <p:txBody>
          <a:bodyPr wrap="square">
            <a:spAutoFit/>
          </a:bodyPr>
          <a:lstStyle/>
          <a:p>
            <a:pPr>
              <a:spcAft>
                <a:spcPts val="800"/>
              </a:spcAft>
              <a:defRPr sz="2000">
                <a:solidFill>
                  <a:srgbClr val="B8DADB"/>
                </a:solidFill>
                <a:latin typeface="Aptos"/>
              </a:defRPr>
            </a:pPr>
            <a:r>
              <a:t>• Add a larger and more diverse student dataset.</a:t>
            </a:r>
          </a:p>
          <a:p>
            <a:pPr>
              <a:spcAft>
                <a:spcPts val="800"/>
              </a:spcAft>
              <a:defRPr sz="2000">
                <a:solidFill>
                  <a:srgbClr val="B8DADB"/>
                </a:solidFill>
                <a:latin typeface="Aptos"/>
              </a:defRPr>
            </a:pPr>
            <a:r>
              <a:t>• Include semester-wise trend analysis.</a:t>
            </a:r>
          </a:p>
          <a:p>
            <a:pPr>
              <a:spcAft>
                <a:spcPts val="800"/>
              </a:spcAft>
              <a:defRPr sz="2000">
                <a:solidFill>
                  <a:srgbClr val="B8DADB"/>
                </a:solidFill>
                <a:latin typeface="Aptos"/>
              </a:defRPr>
            </a:pPr>
            <a:r>
              <a:t>• Add personalized academic-support suggestions.</a:t>
            </a:r>
          </a:p>
          <a:p>
            <a:pPr>
              <a:spcAft>
                <a:spcPts val="800"/>
              </a:spcAft>
              <a:defRPr sz="2000">
                <a:solidFill>
                  <a:srgbClr val="B8DADB"/>
                </a:solidFill>
                <a:latin typeface="Aptos"/>
              </a:defRPr>
            </a:pPr>
            <a:r>
              <a:t>• Build role-based dashboards for students and faculty.</a:t>
            </a:r>
          </a:p>
          <a:p>
            <a:pPr>
              <a:spcAft>
                <a:spcPts val="800"/>
              </a:spcAft>
              <a:defRPr sz="2000">
                <a:solidFill>
                  <a:srgbClr val="B8DADB"/>
                </a:solidFill>
                <a:latin typeface="Aptos"/>
              </a:defRPr>
            </a:pPr>
            <a:r>
              <a:t>• Add alerts for repeated low attendance or performance patterns.</a:t>
            </a:r>
          </a:p>
          <a:p>
            <a:pPr>
              <a:spcAft>
                <a:spcPts val="800"/>
              </a:spcAft>
              <a:defRPr sz="2000">
                <a:solidFill>
                  <a:srgbClr val="B8DADB"/>
                </a:solidFill>
                <a:latin typeface="Aptos"/>
              </a:defRPr>
            </a:pPr>
            <a:r>
              <a:t>• Deploy the dashboard as a web application.</a:t>
            </a:r>
          </a:p>
        </p:txBody>
      </p:sp>
      <p:sp>
        <p:nvSpPr>
          <p:cNvPr id="7" name="TextBox 6"/>
          <p:cNvSpPr txBox="1"/>
          <p:nvPr/>
        </p:nvSpPr>
        <p:spPr>
          <a:xfrm>
            <a:off x="914400" y="5669280"/>
            <a:ext cx="10058400" cy="457200"/>
          </a:xfrm>
          <a:prstGeom prst="rect">
            <a:avLst/>
          </a:prstGeom>
          <a:noFill/>
        </p:spPr>
        <p:txBody>
          <a:bodyPr wrap="square" anchor="t">
            <a:spAutoFit/>
          </a:bodyPr>
          <a:lstStyle/>
          <a:p>
            <a:pPr algn="ctr"/>
            <a:r>
              <a:rPr sz="1800" b="1">
                <a:solidFill>
                  <a:srgbClr val="89DAE0"/>
                </a:solidFill>
                <a:latin typeface="Aptos"/>
              </a:rPr>
              <a:t>The first version will remain simple so the team can complete and demonstrate the core workflow.</a:t>
            </a:r>
          </a:p>
        </p:txBody>
      </p:sp>
      <p:sp>
        <p:nvSpPr>
          <p:cNvPr id="8" name="TextBox 7"/>
          <p:cNvSpPr txBox="1"/>
          <p:nvPr/>
        </p:nvSpPr>
        <p:spPr>
          <a:xfrm>
            <a:off x="10927080" y="6419088"/>
            <a:ext cx="411480" cy="228600"/>
          </a:xfrm>
          <a:prstGeom prst="rect">
            <a:avLst/>
          </a:prstGeom>
          <a:noFill/>
        </p:spPr>
        <p:txBody>
          <a:bodyPr wrap="square" anchor="t">
            <a:spAutoFit/>
          </a:bodyPr>
          <a:lstStyle/>
          <a:p>
            <a:pPr algn="r"/>
            <a:r>
              <a:rPr sz="1000" b="1">
                <a:solidFill>
                  <a:srgbClr val="89DAE0"/>
                </a:solidFill>
                <a:latin typeface="Aptos"/>
              </a:rPr>
              <a:t>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93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 y="182880"/>
            <a:ext cx="11521440" cy="6400800"/>
          </a:xfrm>
          <a:prstGeom prst="rect">
            <a:avLst/>
          </a:prstGeom>
          <a:solidFill>
            <a:srgbClr val="0F4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0561320" y="0"/>
            <a:ext cx="685800" cy="914400"/>
          </a:xfrm>
          <a:prstGeom prst="rect">
            <a:avLst/>
          </a:prstGeom>
          <a:solidFill>
            <a:srgbClr val="CD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057400"/>
            <a:ext cx="10515600" cy="914400"/>
          </a:xfrm>
          <a:prstGeom prst="rect">
            <a:avLst/>
          </a:prstGeom>
          <a:noFill/>
        </p:spPr>
        <p:txBody>
          <a:bodyPr wrap="square" anchor="t">
            <a:spAutoFit/>
          </a:bodyPr>
          <a:lstStyle/>
          <a:p>
            <a:pPr algn="ctr"/>
            <a:r>
              <a:rPr sz="4400" b="1">
                <a:solidFill>
                  <a:srgbClr val="F5F7F7"/>
                </a:solidFill>
                <a:latin typeface="Aptos"/>
              </a:rPr>
              <a:t>THANK YOU</a:t>
            </a:r>
          </a:p>
        </p:txBody>
      </p:sp>
      <p:sp>
        <p:nvSpPr>
          <p:cNvPr id="6" name="TextBox 5"/>
          <p:cNvSpPr txBox="1"/>
          <p:nvPr/>
        </p:nvSpPr>
        <p:spPr>
          <a:xfrm>
            <a:off x="822960" y="3063240"/>
            <a:ext cx="10515600" cy="548640"/>
          </a:xfrm>
          <a:prstGeom prst="rect">
            <a:avLst/>
          </a:prstGeom>
          <a:noFill/>
        </p:spPr>
        <p:txBody>
          <a:bodyPr wrap="square" anchor="t">
            <a:spAutoFit/>
          </a:bodyPr>
          <a:lstStyle/>
          <a:p>
            <a:pPr algn="ctr"/>
            <a:r>
              <a:rPr sz="2800" b="1">
                <a:solidFill>
                  <a:srgbClr val="89DAE0"/>
                </a:solidFill>
                <a:latin typeface="Aptos"/>
              </a:rPr>
              <a:t>EduInsight</a:t>
            </a:r>
          </a:p>
        </p:txBody>
      </p:sp>
      <p:sp>
        <p:nvSpPr>
          <p:cNvPr id="7" name="TextBox 6"/>
          <p:cNvSpPr txBox="1"/>
          <p:nvPr/>
        </p:nvSpPr>
        <p:spPr>
          <a:xfrm>
            <a:off x="822960" y="3657600"/>
            <a:ext cx="10515600" cy="457200"/>
          </a:xfrm>
          <a:prstGeom prst="rect">
            <a:avLst/>
          </a:prstGeom>
          <a:noFill/>
        </p:spPr>
        <p:txBody>
          <a:bodyPr wrap="square" anchor="t">
            <a:spAutoFit/>
          </a:bodyPr>
          <a:lstStyle/>
          <a:p>
            <a:pPr algn="ctr"/>
            <a:r>
              <a:rPr sz="1900" b="0">
                <a:solidFill>
                  <a:srgbClr val="B8DADB"/>
                </a:solidFill>
                <a:latin typeface="Aptos"/>
              </a:rPr>
              <a:t>Student Performance and Dropout Analytics System</a:t>
            </a:r>
          </a:p>
        </p:txBody>
      </p:sp>
      <p:sp>
        <p:nvSpPr>
          <p:cNvPr id="8" name="TextBox 7"/>
          <p:cNvSpPr txBox="1"/>
          <p:nvPr/>
        </p:nvSpPr>
        <p:spPr>
          <a:xfrm>
            <a:off x="822960" y="4709160"/>
            <a:ext cx="10515600" cy="411480"/>
          </a:xfrm>
          <a:prstGeom prst="rect">
            <a:avLst/>
          </a:prstGeom>
          <a:noFill/>
        </p:spPr>
        <p:txBody>
          <a:bodyPr wrap="square" anchor="t">
            <a:spAutoFit/>
          </a:bodyPr>
          <a:lstStyle/>
          <a:p>
            <a:pPr algn="ctr"/>
            <a:r>
              <a:rPr sz="1700" b="0">
                <a:solidFill>
                  <a:srgbClr val="F5F7F7"/>
                </a:solidFill>
                <a:latin typeface="Aptos"/>
              </a:rPr>
              <a:t>Questions / Suggestions</a:t>
            </a:r>
          </a:p>
        </p:txBody>
      </p:sp>
      <p:sp>
        <p:nvSpPr>
          <p:cNvPr id="9" name="TextBox 8"/>
          <p:cNvSpPr txBox="1"/>
          <p:nvPr/>
        </p:nvSpPr>
        <p:spPr>
          <a:xfrm>
            <a:off x="10927080" y="6419088"/>
            <a:ext cx="411480" cy="228600"/>
          </a:xfrm>
          <a:prstGeom prst="rect">
            <a:avLst/>
          </a:prstGeom>
          <a:noFill/>
        </p:spPr>
        <p:txBody>
          <a:bodyPr wrap="square" anchor="t">
            <a:spAutoFit/>
          </a:bodyPr>
          <a:lstStyle/>
          <a:p>
            <a:pPr algn="r"/>
            <a:r>
              <a:rPr sz="1000" b="1">
                <a:solidFill>
                  <a:srgbClr val="89DAE0"/>
                </a:solidFill>
                <a:latin typeface="Aptos"/>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35</TotalTime>
  <Words>910</Words>
  <Application>Microsoft Office PowerPoint</Application>
  <PresentationFormat>Widescreen</PresentationFormat>
  <Paragraphs>167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Annapaneni</dc:creator>
  <cp:keywords/>
  <dc:description>generated using python-pptx</dc:description>
  <cp:lastModifiedBy>BHANU PRAKASH CHOWDARY</cp:lastModifiedBy>
  <cp:revision>3</cp:revision>
  <dcterms:created xsi:type="dcterms:W3CDTF">2013-01-27T09:14:16Z</dcterms:created>
  <dcterms:modified xsi:type="dcterms:W3CDTF">2026-09-30T09:59:28Z</dcterms:modified>
  <cp:category/>
</cp:coreProperties>
</file>